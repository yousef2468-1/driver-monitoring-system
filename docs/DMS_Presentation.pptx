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committee. My name is Yousef Abdelaziz Mohamed and I am the team leader for our graduation project — the Driver Monitoring System. Today I will walk you through our complete AI-powered solution that detects four unsafe driver behaviors in real time using nothing more than an ordinary smartphone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of the problem is enormous. The WHO reports 1.19 million deaths annually from road crashes. The majority are caused by human factors — fatigue, drowsiness, and distraction. Yet ordinary vehicles provide no mechanism to detect when a driver is falling asleep, yawning repeatedly, using a phone, or smoking. Premium solutions exist, but they require dedicated in-vehicle hardware that most drivers simply cannot afford.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complete driver monitoring system we call Modulzy. It detects four unsafe behaviors simultaneously. For drowsiness and yawning we use geometric algorithms — the Eye Aspect Ratio and Mouth Aspect Ratio — computed from MediaPipe facial landmarks. These run at up to 45 frames per second with no model inference needed. For phone usage we use a trained YOLOv8 classifier. For smoking and vaping we use a YOLOv8 detector enhanced with our CBAM attention contribution. The key point: all of this runs from a regular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front-ends sharing one AI engine. A Streamlit desktop dashboard for direct monitoring, and a Flutter mobile application that streams frames via WebSocket to a Flask Python backend. The backend runs all four detectors and returns annotated frames plus a live safety score. The phone connects over local WiFi — no internet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technical contribution is integrating the CBAM attention module into the YOLOv8 backbone. It works in two stages: first channel attention asks which of the 1024 feature maps are most informative, then spatial attention asks where in the image to focus. We insert it at backbone layer 8, right before the SPPF layer. The motivation is that cigarettes and vapes are very small objects that occupy only a few pixels in the frame — CBAM helps the network attend to those critical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public datasets, one per detector. All were balanced before training — we checked class distribution and applied random downsampling where needed. The biggest challenge was the smoking dataset: vape had only 54 training instances versus 5,449 for smoke — a 100-to-1 imbalance. We addressed this at the data level by merging two datasets, at the architecture level with CBAM, and at training time with heavy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are strong across all four detectors. Drowsiness classification reached 100% accuracy on the balanced eye-state dataset. Yawning reached 98.7%. Phone usage 99.9% — the classifier is extremely reliable. For smoking and vaping, the CBAM-enhanced model reached 64.4% mAP at IoU 0.5, compared to 62.5% for the baseline — a 1.9 percentage point improvement on a severely imbalanced detection problem. The CBAM consistently lowered box loss compared to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show you the system working live. We will start the Flask server on the laptop, connect the Flutter app on the phone, and demonstrate each of the four detectors one by one. Watch the safety score at the top of the screen — it starts at 100 and decrements with each confirmed alert. The demo video is also available if there are any connection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a modern, entirely open-source stack. Python and PyTorch for training, YOLOv8 for the detection and classification models, MediaPipe for the geometric landmark algorithms, Flask for the API server, and Flutter for the cross-platform mobile application. Training was done on Google Colab with a Tesla T4 GPU at no hardware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built a complete, working driver monitoring system that detects four unsafe behaviors in real time from an ordinary smartphone. Our CBAM contribution improved smoking detection from 62.5 to 64.4 percent mAP. The system is fully deployed with a mobile app, a desktop dashboard, trained models, and complete documentation. Future work includes on-device inference to eliminate the server dependency, more vape training data, and low-light robustness. Thank you —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6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75B6"/>
          </a:solidFill>
          <a:ln w="12700">
            <a:solidFill>
              <a:srgbClr val="2E75B6"/>
            </a:solidFill>
            <a:prstDash val="solid"/>
          </a:ln>
        </p:spPr>
      </p:sp>
      <p:sp>
        <p:nvSpPr>
          <p:cNvPr id="3" name="Shape 1"/>
          <p:cNvSpPr/>
          <p:nvPr/>
        </p:nvSpPr>
        <p:spPr>
          <a:xfrm>
            <a:off x="0" y="5070348"/>
            <a:ext cx="9144000" cy="73152"/>
          </a:xfrm>
          <a:prstGeom prst="rect">
            <a:avLst/>
          </a:prstGeom>
          <a:solidFill>
            <a:srgbClr val="2E75B6"/>
          </a:solidFill>
          <a:ln w="12700">
            <a:solidFill>
              <a:srgbClr val="2E75B6"/>
            </a:solidFill>
            <a:prstDash val="solid"/>
          </a:ln>
        </p:spPr>
      </p:sp>
      <p:sp>
        <p:nvSpPr>
          <p:cNvPr id="4" name="Text 2"/>
          <p:cNvSpPr/>
          <p:nvPr/>
        </p:nvSpPr>
        <p:spPr>
          <a:xfrm>
            <a:off x="457200" y="256032"/>
            <a:ext cx="8229600" cy="36576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Cairo University  ·  Faculty of Computers &amp; Artificial Intelligence  ·  AI Department</a:t>
            </a:r>
            <a:endParaRPr lang="en-US" sz="1200" dirty="0"/>
          </a:p>
        </p:txBody>
      </p:sp>
      <p:sp>
        <p:nvSpPr>
          <p:cNvPr id="5" name="Text 3"/>
          <p:cNvSpPr/>
          <p:nvPr/>
        </p:nvSpPr>
        <p:spPr>
          <a:xfrm>
            <a:off x="365760" y="960120"/>
            <a:ext cx="841248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Driver Monitoring System</a:t>
            </a:r>
            <a:endParaRPr lang="en-US" sz="5200" dirty="0"/>
          </a:p>
        </p:txBody>
      </p:sp>
      <p:sp>
        <p:nvSpPr>
          <p:cNvPr id="6" name="Text 4"/>
          <p:cNvSpPr/>
          <p:nvPr/>
        </p:nvSpPr>
        <p:spPr>
          <a:xfrm>
            <a:off x="731520" y="2194560"/>
            <a:ext cx="7680960" cy="548640"/>
          </a:xfrm>
          <a:prstGeom prst="rect">
            <a:avLst/>
          </a:prstGeom>
          <a:noFill/>
          <a:ln/>
        </p:spPr>
        <p:txBody>
          <a:bodyPr wrap="square" lIns="0" tIns="0" rIns="0" bIns="0"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An AI-Based Real-Time Driver Safety &amp; Distraction Detection System</a:t>
            </a:r>
            <a:endParaRPr lang="en-US" sz="1800" dirty="0"/>
          </a:p>
        </p:txBody>
      </p:sp>
      <p:sp>
        <p:nvSpPr>
          <p:cNvPr id="7" name="Shape 5"/>
          <p:cNvSpPr/>
          <p:nvPr/>
        </p:nvSpPr>
        <p:spPr>
          <a:xfrm>
            <a:off x="731520" y="2880360"/>
            <a:ext cx="1783080" cy="475488"/>
          </a:xfrm>
          <a:prstGeom prst="roundRect">
            <a:avLst>
              <a:gd name="adj" fmla="val 15385"/>
            </a:avLst>
          </a:prstGeom>
          <a:solidFill>
            <a:srgbClr val="C0392B">
              <a:alpha val="80000"/>
            </a:srgbClr>
          </a:solidFill>
          <a:ln w="12700">
            <a:solidFill>
              <a:srgbClr val="C0392B"/>
            </a:solidFill>
            <a:prstDash val="solid"/>
          </a:ln>
        </p:spPr>
      </p:sp>
      <p:sp>
        <p:nvSpPr>
          <p:cNvPr id="8" name="Text 6"/>
          <p:cNvSpPr/>
          <p:nvPr/>
        </p:nvSpPr>
        <p:spPr>
          <a:xfrm>
            <a:off x="731520" y="2880360"/>
            <a:ext cx="17830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Drowsiness</a:t>
            </a:r>
            <a:endParaRPr lang="en-US" sz="1300" dirty="0"/>
          </a:p>
        </p:txBody>
      </p:sp>
      <p:sp>
        <p:nvSpPr>
          <p:cNvPr id="9" name="Shape 7"/>
          <p:cNvSpPr/>
          <p:nvPr/>
        </p:nvSpPr>
        <p:spPr>
          <a:xfrm>
            <a:off x="2697480" y="2880360"/>
            <a:ext cx="1783080" cy="475488"/>
          </a:xfrm>
          <a:prstGeom prst="roundRect">
            <a:avLst>
              <a:gd name="adj" fmla="val 15385"/>
            </a:avLst>
          </a:prstGeom>
          <a:solidFill>
            <a:srgbClr val="E67E22">
              <a:alpha val="80000"/>
            </a:srgbClr>
          </a:solidFill>
          <a:ln w="12700">
            <a:solidFill>
              <a:srgbClr val="E67E22"/>
            </a:solidFill>
            <a:prstDash val="solid"/>
          </a:ln>
        </p:spPr>
      </p:sp>
      <p:sp>
        <p:nvSpPr>
          <p:cNvPr id="10" name="Text 8"/>
          <p:cNvSpPr/>
          <p:nvPr/>
        </p:nvSpPr>
        <p:spPr>
          <a:xfrm>
            <a:off x="2697480" y="2880360"/>
            <a:ext cx="17830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Yawning</a:t>
            </a:r>
            <a:endParaRPr lang="en-US" sz="1300" dirty="0"/>
          </a:p>
        </p:txBody>
      </p:sp>
      <p:sp>
        <p:nvSpPr>
          <p:cNvPr id="11" name="Shape 9"/>
          <p:cNvSpPr/>
          <p:nvPr/>
        </p:nvSpPr>
        <p:spPr>
          <a:xfrm>
            <a:off x="4663440" y="2880360"/>
            <a:ext cx="1783080" cy="475488"/>
          </a:xfrm>
          <a:prstGeom prst="roundRect">
            <a:avLst>
              <a:gd name="adj" fmla="val 15385"/>
            </a:avLst>
          </a:prstGeom>
          <a:solidFill>
            <a:srgbClr val="2E75B6">
              <a:alpha val="80000"/>
            </a:srgbClr>
          </a:solidFill>
          <a:ln w="12700">
            <a:solidFill>
              <a:srgbClr val="2E75B6"/>
            </a:solidFill>
            <a:prstDash val="solid"/>
          </a:ln>
        </p:spPr>
      </p:sp>
      <p:sp>
        <p:nvSpPr>
          <p:cNvPr id="12" name="Text 10"/>
          <p:cNvSpPr/>
          <p:nvPr/>
        </p:nvSpPr>
        <p:spPr>
          <a:xfrm>
            <a:off x="4663440" y="2880360"/>
            <a:ext cx="17830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Phone Usage</a:t>
            </a:r>
            <a:endParaRPr lang="en-US" sz="1300" dirty="0"/>
          </a:p>
        </p:txBody>
      </p:sp>
      <p:sp>
        <p:nvSpPr>
          <p:cNvPr id="13" name="Shape 11"/>
          <p:cNvSpPr/>
          <p:nvPr/>
        </p:nvSpPr>
        <p:spPr>
          <a:xfrm>
            <a:off x="6629400" y="2880360"/>
            <a:ext cx="1783080" cy="475488"/>
          </a:xfrm>
          <a:prstGeom prst="roundRect">
            <a:avLst>
              <a:gd name="adj" fmla="val 15385"/>
            </a:avLst>
          </a:prstGeom>
          <a:solidFill>
            <a:srgbClr val="2E8B57">
              <a:alpha val="80000"/>
            </a:srgbClr>
          </a:solidFill>
          <a:ln w="12700">
            <a:solidFill>
              <a:srgbClr val="2E8B57"/>
            </a:solidFill>
            <a:prstDash val="solid"/>
          </a:ln>
        </p:spPr>
      </p:sp>
      <p:sp>
        <p:nvSpPr>
          <p:cNvPr id="14" name="Text 12"/>
          <p:cNvSpPr/>
          <p:nvPr/>
        </p:nvSpPr>
        <p:spPr>
          <a:xfrm>
            <a:off x="6629400" y="2880360"/>
            <a:ext cx="178308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Smoking/Vape</a:t>
            </a:r>
            <a:endParaRPr lang="en-US" sz="1300" dirty="0"/>
          </a:p>
        </p:txBody>
      </p:sp>
      <p:sp>
        <p:nvSpPr>
          <p:cNvPr id="15" name="Shape 13"/>
          <p:cNvSpPr/>
          <p:nvPr/>
        </p:nvSpPr>
        <p:spPr>
          <a:xfrm>
            <a:off x="1371600" y="3611880"/>
            <a:ext cx="6400800" cy="0"/>
          </a:xfrm>
          <a:prstGeom prst="line">
            <a:avLst/>
          </a:prstGeom>
          <a:noFill/>
          <a:ln w="12700">
            <a:solidFill>
              <a:srgbClr val="4A6FA5"/>
            </a:solidFill>
            <a:prstDash val="dash"/>
          </a:ln>
        </p:spPr>
      </p:sp>
      <p:sp>
        <p:nvSpPr>
          <p:cNvPr id="16" name="Text 14"/>
          <p:cNvSpPr/>
          <p:nvPr/>
        </p:nvSpPr>
        <p:spPr>
          <a:xfrm>
            <a:off x="457200" y="3794760"/>
            <a:ext cx="8229600" cy="36576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Yousef Abdelaziz Mohamed  ·  ID: 20220398  (Team Leader)</a:t>
            </a:r>
            <a:endParaRPr lang="en-US" sz="1300" dirty="0"/>
          </a:p>
        </p:txBody>
      </p:sp>
      <p:sp>
        <p:nvSpPr>
          <p:cNvPr id="17" name="Text 15"/>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200" dirty="0">
                <a:solidFill>
                  <a:srgbClr val="8BA5CC"/>
                </a:solidFill>
                <a:latin typeface="Calibri" pitchFamily="34" charset="0"/>
                <a:ea typeface="Calibri" pitchFamily="34" charset="-122"/>
                <a:cs typeface="Calibri" pitchFamily="34" charset="-120"/>
              </a:rPr>
              <a:t>Supervisor: Prof. Asmaa  ·  Academic Year 2025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The Problem</a:t>
            </a:r>
            <a:endParaRPr lang="en-US" sz="3600" dirty="0"/>
          </a:p>
        </p:txBody>
      </p:sp>
      <p:sp>
        <p:nvSpPr>
          <p:cNvPr id="3" name="Shape 1"/>
          <p:cNvSpPr/>
          <p:nvPr/>
        </p:nvSpPr>
        <p:spPr>
          <a:xfrm>
            <a:off x="457200" y="960120"/>
            <a:ext cx="2377440" cy="2194560"/>
          </a:xfrm>
          <a:prstGeom prst="roundRect">
            <a:avLst>
              <a:gd name="adj" fmla="val 6250"/>
            </a:avLst>
          </a:prstGeom>
          <a:solidFill>
            <a:srgbClr val="1A3A6E"/>
          </a:solidFill>
          <a:ln w="12700">
            <a:solidFill>
              <a:srgbClr val="1A3A6E"/>
            </a:solidFill>
            <a:prstDash val="solid"/>
          </a:ln>
          <a:effectLst>
            <a:outerShdw sx="100000" sy="100000" kx="0" ky="0" algn="bl" rotWithShape="0" blurRad="101600" dist="38100" dir="2700000">
              <a:srgbClr val="000000">
                <a:alpha val="14000"/>
              </a:srgbClr>
            </a:outerShdw>
          </a:effectLst>
        </p:spPr>
      </p:sp>
      <p:sp>
        <p:nvSpPr>
          <p:cNvPr id="4" name="Text 2"/>
          <p:cNvSpPr/>
          <p:nvPr/>
        </p:nvSpPr>
        <p:spPr>
          <a:xfrm>
            <a:off x="457200" y="1097280"/>
            <a:ext cx="237744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1.19M</a:t>
            </a:r>
            <a:endParaRPr lang="en-US" sz="4600" dirty="0"/>
          </a:p>
        </p:txBody>
      </p:sp>
      <p:sp>
        <p:nvSpPr>
          <p:cNvPr id="5" name="Text 3"/>
          <p:cNvSpPr/>
          <p:nvPr/>
        </p:nvSpPr>
        <p:spPr>
          <a:xfrm>
            <a:off x="457200" y="2103120"/>
            <a:ext cx="2377440" cy="91440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deaths per year from</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road traffic crashes</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(WHO, 2023)</a:t>
            </a:r>
            <a:endParaRPr lang="en-US" sz="1200" dirty="0"/>
          </a:p>
        </p:txBody>
      </p:sp>
      <p:sp>
        <p:nvSpPr>
          <p:cNvPr id="6" name="Shape 4"/>
          <p:cNvSpPr/>
          <p:nvPr/>
        </p:nvSpPr>
        <p:spPr>
          <a:xfrm>
            <a:off x="3200400" y="960120"/>
            <a:ext cx="548640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7" name="Shape 5"/>
          <p:cNvSpPr/>
          <p:nvPr/>
        </p:nvSpPr>
        <p:spPr>
          <a:xfrm>
            <a:off x="3383280" y="1280160"/>
            <a:ext cx="457200" cy="457200"/>
          </a:xfrm>
          <a:prstGeom prst="ellipse">
            <a:avLst/>
          </a:prstGeom>
          <a:solidFill>
            <a:srgbClr val="C0392B"/>
          </a:solidFill>
          <a:ln w="12700">
            <a:solidFill>
              <a:srgbClr val="C0392B"/>
            </a:solidFill>
            <a:prstDash val="solid"/>
          </a:ln>
        </p:spPr>
      </p:sp>
      <p:sp>
        <p:nvSpPr>
          <p:cNvPr id="8" name="Text 6"/>
          <p:cNvSpPr/>
          <p:nvPr/>
        </p:nvSpPr>
        <p:spPr>
          <a:xfrm>
            <a:off x="3977640" y="1069848"/>
            <a:ext cx="4572000" cy="347472"/>
          </a:xfrm>
          <a:prstGeom prst="rect">
            <a:avLst/>
          </a:prstGeom>
          <a:noFill/>
          <a:ln/>
        </p:spPr>
        <p:txBody>
          <a:bodyPr wrap="square" lIns="0" tIns="0" rIns="0" bIns="0" rtlCol="0" anchor="ctr"/>
          <a:lstStyle/>
          <a:p>
            <a:pPr indent="0" marL="0">
              <a:buNone/>
            </a:pPr>
            <a:r>
              <a:rPr lang="en-US" sz="1500" b="1" dirty="0">
                <a:solidFill>
                  <a:srgbClr val="1A3A6E"/>
                </a:solidFill>
                <a:latin typeface="Calibri" pitchFamily="34" charset="0"/>
                <a:ea typeface="Calibri" pitchFamily="34" charset="-122"/>
                <a:cs typeface="Calibri" pitchFamily="34" charset="-120"/>
              </a:rPr>
              <a:t>No Detection</a:t>
            </a:r>
            <a:endParaRPr lang="en-US" sz="1500" dirty="0"/>
          </a:p>
        </p:txBody>
      </p:sp>
      <p:sp>
        <p:nvSpPr>
          <p:cNvPr id="9" name="Text 7"/>
          <p:cNvSpPr/>
          <p:nvPr/>
        </p:nvSpPr>
        <p:spPr>
          <a:xfrm>
            <a:off x="3977640" y="1435608"/>
            <a:ext cx="4572000" cy="5029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Ordinary vehicles have zero mechanism to detect drowsy or distracted drivers</a:t>
            </a:r>
            <a:endParaRPr lang="en-US" sz="1200" dirty="0"/>
          </a:p>
        </p:txBody>
      </p:sp>
      <p:sp>
        <p:nvSpPr>
          <p:cNvPr id="10" name="Shape 8"/>
          <p:cNvSpPr/>
          <p:nvPr/>
        </p:nvSpPr>
        <p:spPr>
          <a:xfrm>
            <a:off x="3200400" y="2194560"/>
            <a:ext cx="548640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1" name="Shape 9"/>
          <p:cNvSpPr/>
          <p:nvPr/>
        </p:nvSpPr>
        <p:spPr>
          <a:xfrm>
            <a:off x="3383280" y="2514600"/>
            <a:ext cx="457200" cy="457200"/>
          </a:xfrm>
          <a:prstGeom prst="ellipse">
            <a:avLst/>
          </a:prstGeom>
          <a:solidFill>
            <a:srgbClr val="E67E22"/>
          </a:solidFill>
          <a:ln w="12700">
            <a:solidFill>
              <a:srgbClr val="E67E22"/>
            </a:solidFill>
            <a:prstDash val="solid"/>
          </a:ln>
        </p:spPr>
      </p:sp>
      <p:sp>
        <p:nvSpPr>
          <p:cNvPr id="12" name="Text 10"/>
          <p:cNvSpPr/>
          <p:nvPr/>
        </p:nvSpPr>
        <p:spPr>
          <a:xfrm>
            <a:off x="3977640" y="2304288"/>
            <a:ext cx="4572000" cy="347472"/>
          </a:xfrm>
          <a:prstGeom prst="rect">
            <a:avLst/>
          </a:prstGeom>
          <a:noFill/>
          <a:ln/>
        </p:spPr>
        <p:txBody>
          <a:bodyPr wrap="square" lIns="0" tIns="0" rIns="0" bIns="0" rtlCol="0" anchor="ctr"/>
          <a:lstStyle/>
          <a:p>
            <a:pPr indent="0" marL="0">
              <a:buNone/>
            </a:pPr>
            <a:r>
              <a:rPr lang="en-US" sz="1500" b="1" dirty="0">
                <a:solidFill>
                  <a:srgbClr val="1A3A6E"/>
                </a:solidFill>
                <a:latin typeface="Calibri" pitchFamily="34" charset="0"/>
                <a:ea typeface="Calibri" pitchFamily="34" charset="-122"/>
                <a:cs typeface="Calibri" pitchFamily="34" charset="-120"/>
              </a:rPr>
              <a:t>High Cost</a:t>
            </a:r>
            <a:endParaRPr lang="en-US" sz="1500" dirty="0"/>
          </a:p>
        </p:txBody>
      </p:sp>
      <p:sp>
        <p:nvSpPr>
          <p:cNvPr id="13" name="Text 11"/>
          <p:cNvSpPr/>
          <p:nvPr/>
        </p:nvSpPr>
        <p:spPr>
          <a:xfrm>
            <a:off x="3977640" y="2670048"/>
            <a:ext cx="4572000" cy="5029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Premium driver monitoring systems exist only in expensive vehicles, inaccessible to most</a:t>
            </a:r>
            <a:endParaRPr lang="en-US" sz="1200" dirty="0"/>
          </a:p>
        </p:txBody>
      </p:sp>
      <p:sp>
        <p:nvSpPr>
          <p:cNvPr id="14" name="Shape 12"/>
          <p:cNvSpPr/>
          <p:nvPr/>
        </p:nvSpPr>
        <p:spPr>
          <a:xfrm>
            <a:off x="3200400" y="3429000"/>
            <a:ext cx="548640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5" name="Shape 13"/>
          <p:cNvSpPr/>
          <p:nvPr/>
        </p:nvSpPr>
        <p:spPr>
          <a:xfrm>
            <a:off x="3383280" y="3749040"/>
            <a:ext cx="457200" cy="457200"/>
          </a:xfrm>
          <a:prstGeom prst="ellipse">
            <a:avLst/>
          </a:prstGeom>
          <a:solidFill>
            <a:srgbClr val="2E75B6"/>
          </a:solidFill>
          <a:ln w="12700">
            <a:solidFill>
              <a:srgbClr val="2E75B6"/>
            </a:solidFill>
            <a:prstDash val="solid"/>
          </a:ln>
        </p:spPr>
      </p:sp>
      <p:sp>
        <p:nvSpPr>
          <p:cNvPr id="16" name="Text 14"/>
          <p:cNvSpPr/>
          <p:nvPr/>
        </p:nvSpPr>
        <p:spPr>
          <a:xfrm>
            <a:off x="3977640" y="3538728"/>
            <a:ext cx="4572000" cy="347472"/>
          </a:xfrm>
          <a:prstGeom prst="rect">
            <a:avLst/>
          </a:prstGeom>
          <a:noFill/>
          <a:ln/>
        </p:spPr>
        <p:txBody>
          <a:bodyPr wrap="square" lIns="0" tIns="0" rIns="0" bIns="0" rtlCol="0" anchor="ctr"/>
          <a:lstStyle/>
          <a:p>
            <a:pPr indent="0" marL="0">
              <a:buNone/>
            </a:pPr>
            <a:r>
              <a:rPr lang="en-US" sz="1500" b="1" dirty="0">
                <a:solidFill>
                  <a:srgbClr val="1A3A6E"/>
                </a:solidFill>
                <a:latin typeface="Calibri" pitchFamily="34" charset="0"/>
                <a:ea typeface="Calibri" pitchFamily="34" charset="-122"/>
                <a:cs typeface="Calibri" pitchFamily="34" charset="-120"/>
              </a:rPr>
              <a:t>Delayed Alerts</a:t>
            </a:r>
            <a:endParaRPr lang="en-US" sz="1500" dirty="0"/>
          </a:p>
        </p:txBody>
      </p:sp>
      <p:sp>
        <p:nvSpPr>
          <p:cNvPr id="17" name="Text 15"/>
          <p:cNvSpPr/>
          <p:nvPr/>
        </p:nvSpPr>
        <p:spPr>
          <a:xfrm>
            <a:off x="3977640" y="3904488"/>
            <a:ext cx="4572000" cy="5029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By the time a lane-departure system triggers, it may already be too late to react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Our Solution — Modulzy DMS</a:t>
            </a:r>
            <a:endParaRPr lang="en-US" sz="3600" dirty="0"/>
          </a:p>
        </p:txBody>
      </p:sp>
      <p:sp>
        <p:nvSpPr>
          <p:cNvPr id="3" name="Text 1"/>
          <p:cNvSpPr/>
          <p:nvPr/>
        </p:nvSpPr>
        <p:spPr>
          <a:xfrm>
            <a:off x="457200" y="914400"/>
            <a:ext cx="8229600" cy="502920"/>
          </a:xfrm>
          <a:prstGeom prst="rect">
            <a:avLst/>
          </a:prstGeom>
          <a:noFill/>
          <a:ln/>
        </p:spPr>
        <p:txBody>
          <a:bodyPr wrap="square" lIns="0" tIns="0" rIns="0" bIns="0" rtlCol="0" anchor="ctr"/>
          <a:lstStyle/>
          <a:p>
            <a:pPr indent="0" marL="0">
              <a:buNone/>
            </a:pPr>
            <a:r>
              <a:rPr lang="en-US" sz="1500" i="1" dirty="0">
                <a:solidFill>
                  <a:srgbClr val="5D6D7E"/>
                </a:solidFill>
                <a:latin typeface="Calibri" pitchFamily="34" charset="0"/>
                <a:ea typeface="Calibri" pitchFamily="34" charset="-122"/>
                <a:cs typeface="Calibri" pitchFamily="34" charset="-120"/>
              </a:rPr>
              <a:t>A real-time AI driver safety system running entirely from an ordinary smartphone camera — no special hardware required.</a:t>
            </a:r>
            <a:endParaRPr lang="en-US" sz="1500" dirty="0"/>
          </a:p>
        </p:txBody>
      </p:sp>
      <p:sp>
        <p:nvSpPr>
          <p:cNvPr id="4" name="Shape 2"/>
          <p:cNvSpPr/>
          <p:nvPr/>
        </p:nvSpPr>
        <p:spPr>
          <a:xfrm>
            <a:off x="457200" y="1600200"/>
            <a:ext cx="4023360" cy="1417320"/>
          </a:xfrm>
          <a:prstGeom prst="roundRect">
            <a:avLst>
              <a:gd name="adj" fmla="val 9032"/>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5" name="Shape 3"/>
          <p:cNvSpPr/>
          <p:nvPr/>
        </p:nvSpPr>
        <p:spPr>
          <a:xfrm>
            <a:off x="457200" y="1600200"/>
            <a:ext cx="4023360" cy="457200"/>
          </a:xfrm>
          <a:prstGeom prst="roundRect">
            <a:avLst>
              <a:gd name="adj" fmla="val 28000"/>
            </a:avLst>
          </a:prstGeom>
          <a:solidFill>
            <a:srgbClr val="C0392B"/>
          </a:solidFill>
          <a:ln w="12700">
            <a:solidFill>
              <a:srgbClr val="C0392B"/>
            </a:solidFill>
            <a:prstDash val="solid"/>
          </a:ln>
        </p:spPr>
      </p:sp>
      <p:sp>
        <p:nvSpPr>
          <p:cNvPr id="6" name="Shape 4"/>
          <p:cNvSpPr/>
          <p:nvPr/>
        </p:nvSpPr>
        <p:spPr>
          <a:xfrm>
            <a:off x="457200" y="1874520"/>
            <a:ext cx="4023360" cy="182880"/>
          </a:xfrm>
          <a:prstGeom prst="rect">
            <a:avLst/>
          </a:prstGeom>
          <a:solidFill>
            <a:srgbClr val="C0392B"/>
          </a:solidFill>
          <a:ln w="12700">
            <a:solidFill>
              <a:srgbClr val="C0392B"/>
            </a:solidFill>
            <a:prstDash val="solid"/>
          </a:ln>
        </p:spPr>
      </p:sp>
      <p:sp>
        <p:nvSpPr>
          <p:cNvPr id="7" name="Text 5"/>
          <p:cNvSpPr/>
          <p:nvPr/>
        </p:nvSpPr>
        <p:spPr>
          <a:xfrm>
            <a:off x="594360" y="1673352"/>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Drowsiness</a:t>
            </a:r>
            <a:endParaRPr lang="en-US" sz="1500" dirty="0"/>
          </a:p>
        </p:txBody>
      </p:sp>
      <p:sp>
        <p:nvSpPr>
          <p:cNvPr id="8" name="Text 6"/>
          <p:cNvSpPr/>
          <p:nvPr/>
        </p:nvSpPr>
        <p:spPr>
          <a:xfrm>
            <a:off x="640080" y="2130552"/>
            <a:ext cx="237744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Eye Aspect Ratio (EAR)</a:t>
            </a:r>
            <a:endParaRPr lang="en-US" sz="1100" dirty="0"/>
          </a:p>
          <a:p>
            <a:pPr indent="0" marL="0">
              <a:buNone/>
            </a:pPr>
            <a:r>
              <a:rPr lang="en-US" sz="1100" dirty="0">
                <a:solidFill>
                  <a:srgbClr val="1A1A1A"/>
                </a:solidFill>
                <a:latin typeface="Calibri" pitchFamily="34" charset="0"/>
                <a:ea typeface="Calibri" pitchFamily="34" charset="-122"/>
                <a:cs typeface="Calibri" pitchFamily="34" charset="-120"/>
              </a:rPr>
              <a:t>+ MediaPipe FaceMesh</a:t>
            </a:r>
            <a:endParaRPr lang="en-US" sz="1100" dirty="0"/>
          </a:p>
        </p:txBody>
      </p:sp>
      <p:sp>
        <p:nvSpPr>
          <p:cNvPr id="9" name="Shape 7"/>
          <p:cNvSpPr/>
          <p:nvPr/>
        </p:nvSpPr>
        <p:spPr>
          <a:xfrm>
            <a:off x="3200400" y="2194560"/>
            <a:ext cx="1143000" cy="411480"/>
          </a:xfrm>
          <a:prstGeom prst="roundRect">
            <a:avLst>
              <a:gd name="adj" fmla="val 22222"/>
            </a:avLst>
          </a:prstGeom>
          <a:solidFill>
            <a:srgbClr val="C0392B">
              <a:alpha val="15000"/>
            </a:srgbClr>
          </a:solidFill>
          <a:ln w="12700">
            <a:solidFill>
              <a:srgbClr val="C0392B"/>
            </a:solidFill>
            <a:prstDash val="solid"/>
          </a:ln>
        </p:spPr>
      </p:sp>
      <p:sp>
        <p:nvSpPr>
          <p:cNvPr id="10" name="Text 8"/>
          <p:cNvSpPr/>
          <p:nvPr/>
        </p:nvSpPr>
        <p:spPr>
          <a:xfrm>
            <a:off x="3200400" y="2194560"/>
            <a:ext cx="1143000" cy="41148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100.0% accuracy</a:t>
            </a:r>
            <a:endParaRPr lang="en-US" sz="1000" dirty="0"/>
          </a:p>
        </p:txBody>
      </p:sp>
      <p:sp>
        <p:nvSpPr>
          <p:cNvPr id="11" name="Shape 9"/>
          <p:cNvSpPr/>
          <p:nvPr/>
        </p:nvSpPr>
        <p:spPr>
          <a:xfrm>
            <a:off x="4800600" y="1600200"/>
            <a:ext cx="4023360" cy="1417320"/>
          </a:xfrm>
          <a:prstGeom prst="roundRect">
            <a:avLst>
              <a:gd name="adj" fmla="val 9032"/>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2" name="Shape 10"/>
          <p:cNvSpPr/>
          <p:nvPr/>
        </p:nvSpPr>
        <p:spPr>
          <a:xfrm>
            <a:off x="4800600" y="1600200"/>
            <a:ext cx="4023360" cy="457200"/>
          </a:xfrm>
          <a:prstGeom prst="roundRect">
            <a:avLst>
              <a:gd name="adj" fmla="val 28000"/>
            </a:avLst>
          </a:prstGeom>
          <a:solidFill>
            <a:srgbClr val="E67E22"/>
          </a:solidFill>
          <a:ln w="12700">
            <a:solidFill>
              <a:srgbClr val="E67E22"/>
            </a:solidFill>
            <a:prstDash val="solid"/>
          </a:ln>
        </p:spPr>
      </p:sp>
      <p:sp>
        <p:nvSpPr>
          <p:cNvPr id="13" name="Shape 11"/>
          <p:cNvSpPr/>
          <p:nvPr/>
        </p:nvSpPr>
        <p:spPr>
          <a:xfrm>
            <a:off x="4800600" y="1874520"/>
            <a:ext cx="4023360" cy="182880"/>
          </a:xfrm>
          <a:prstGeom prst="rect">
            <a:avLst/>
          </a:prstGeom>
          <a:solidFill>
            <a:srgbClr val="E67E22"/>
          </a:solidFill>
          <a:ln w="12700">
            <a:solidFill>
              <a:srgbClr val="E67E22"/>
            </a:solidFill>
            <a:prstDash val="solid"/>
          </a:ln>
        </p:spPr>
      </p:sp>
      <p:sp>
        <p:nvSpPr>
          <p:cNvPr id="14" name="Text 12"/>
          <p:cNvSpPr/>
          <p:nvPr/>
        </p:nvSpPr>
        <p:spPr>
          <a:xfrm>
            <a:off x="4937760" y="1673352"/>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Yawning</a:t>
            </a:r>
            <a:endParaRPr lang="en-US" sz="1500" dirty="0"/>
          </a:p>
        </p:txBody>
      </p:sp>
      <p:sp>
        <p:nvSpPr>
          <p:cNvPr id="15" name="Text 13"/>
          <p:cNvSpPr/>
          <p:nvPr/>
        </p:nvSpPr>
        <p:spPr>
          <a:xfrm>
            <a:off x="4983480" y="2130552"/>
            <a:ext cx="237744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Mouth Aspect Ratio (MAR)</a:t>
            </a:r>
            <a:endParaRPr lang="en-US" sz="1100" dirty="0"/>
          </a:p>
          <a:p>
            <a:pPr indent="0" marL="0">
              <a:buNone/>
            </a:pPr>
            <a:r>
              <a:rPr lang="en-US" sz="1100" dirty="0">
                <a:solidFill>
                  <a:srgbClr val="1A1A1A"/>
                </a:solidFill>
                <a:latin typeface="Calibri" pitchFamily="34" charset="0"/>
                <a:ea typeface="Calibri" pitchFamily="34" charset="-122"/>
                <a:cs typeface="Calibri" pitchFamily="34" charset="-120"/>
              </a:rPr>
              <a:t>+ MediaPipe FaceMesh</a:t>
            </a:r>
            <a:endParaRPr lang="en-US" sz="1100" dirty="0"/>
          </a:p>
        </p:txBody>
      </p:sp>
      <p:sp>
        <p:nvSpPr>
          <p:cNvPr id="16" name="Shape 14"/>
          <p:cNvSpPr/>
          <p:nvPr/>
        </p:nvSpPr>
        <p:spPr>
          <a:xfrm>
            <a:off x="7543800" y="2194560"/>
            <a:ext cx="1143000" cy="411480"/>
          </a:xfrm>
          <a:prstGeom prst="roundRect">
            <a:avLst>
              <a:gd name="adj" fmla="val 22222"/>
            </a:avLst>
          </a:prstGeom>
          <a:solidFill>
            <a:srgbClr val="E67E22">
              <a:alpha val="15000"/>
            </a:srgbClr>
          </a:solidFill>
          <a:ln w="12700">
            <a:solidFill>
              <a:srgbClr val="E67E22"/>
            </a:solidFill>
            <a:prstDash val="solid"/>
          </a:ln>
        </p:spPr>
      </p:sp>
      <p:sp>
        <p:nvSpPr>
          <p:cNvPr id="17" name="Text 15"/>
          <p:cNvSpPr/>
          <p:nvPr/>
        </p:nvSpPr>
        <p:spPr>
          <a:xfrm>
            <a:off x="7543800" y="2194560"/>
            <a:ext cx="1143000" cy="411480"/>
          </a:xfrm>
          <a:prstGeom prst="rect">
            <a:avLst/>
          </a:prstGeom>
          <a:noFill/>
          <a:ln/>
        </p:spPr>
        <p:txBody>
          <a:bodyPr wrap="square" lIns="0" tIns="0" rIns="0" bIns="0" rtlCol="0" anchor="ctr"/>
          <a:lstStyle/>
          <a:p>
            <a:pPr algn="ctr" indent="0" marL="0">
              <a:buNone/>
            </a:pPr>
            <a:r>
              <a:rPr lang="en-US" sz="1000" b="1" dirty="0">
                <a:solidFill>
                  <a:srgbClr val="E67E22"/>
                </a:solidFill>
                <a:latin typeface="Calibri" pitchFamily="34" charset="0"/>
                <a:ea typeface="Calibri" pitchFamily="34" charset="-122"/>
                <a:cs typeface="Calibri" pitchFamily="34" charset="-120"/>
              </a:rPr>
              <a:t>98.7% accuracy</a:t>
            </a:r>
            <a:endParaRPr lang="en-US" sz="1000" dirty="0"/>
          </a:p>
        </p:txBody>
      </p:sp>
      <p:sp>
        <p:nvSpPr>
          <p:cNvPr id="18" name="Shape 16"/>
          <p:cNvSpPr/>
          <p:nvPr/>
        </p:nvSpPr>
        <p:spPr>
          <a:xfrm>
            <a:off x="457200" y="3200400"/>
            <a:ext cx="4023360" cy="1417320"/>
          </a:xfrm>
          <a:prstGeom prst="roundRect">
            <a:avLst>
              <a:gd name="adj" fmla="val 9032"/>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9" name="Shape 17"/>
          <p:cNvSpPr/>
          <p:nvPr/>
        </p:nvSpPr>
        <p:spPr>
          <a:xfrm>
            <a:off x="457200" y="3200400"/>
            <a:ext cx="4023360" cy="457200"/>
          </a:xfrm>
          <a:prstGeom prst="roundRect">
            <a:avLst>
              <a:gd name="adj" fmla="val 28000"/>
            </a:avLst>
          </a:prstGeom>
          <a:solidFill>
            <a:srgbClr val="2E75B6"/>
          </a:solidFill>
          <a:ln w="12700">
            <a:solidFill>
              <a:srgbClr val="2E75B6"/>
            </a:solidFill>
            <a:prstDash val="solid"/>
          </a:ln>
        </p:spPr>
      </p:sp>
      <p:sp>
        <p:nvSpPr>
          <p:cNvPr id="20" name="Shape 18"/>
          <p:cNvSpPr/>
          <p:nvPr/>
        </p:nvSpPr>
        <p:spPr>
          <a:xfrm>
            <a:off x="457200" y="3474720"/>
            <a:ext cx="4023360" cy="182880"/>
          </a:xfrm>
          <a:prstGeom prst="rect">
            <a:avLst/>
          </a:prstGeom>
          <a:solidFill>
            <a:srgbClr val="2E75B6"/>
          </a:solidFill>
          <a:ln w="12700">
            <a:solidFill>
              <a:srgbClr val="2E75B6"/>
            </a:solidFill>
            <a:prstDash val="solid"/>
          </a:ln>
        </p:spPr>
      </p:sp>
      <p:sp>
        <p:nvSpPr>
          <p:cNvPr id="21" name="Text 19"/>
          <p:cNvSpPr/>
          <p:nvPr/>
        </p:nvSpPr>
        <p:spPr>
          <a:xfrm>
            <a:off x="594360" y="3273552"/>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Phone Usage</a:t>
            </a:r>
            <a:endParaRPr lang="en-US" sz="1500" dirty="0"/>
          </a:p>
        </p:txBody>
      </p:sp>
      <p:sp>
        <p:nvSpPr>
          <p:cNvPr id="22" name="Text 20"/>
          <p:cNvSpPr/>
          <p:nvPr/>
        </p:nvSpPr>
        <p:spPr>
          <a:xfrm>
            <a:off x="640080" y="3730752"/>
            <a:ext cx="237744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YOLOv8 Classification</a:t>
            </a:r>
            <a:endParaRPr lang="en-US" sz="1100" dirty="0"/>
          </a:p>
          <a:p>
            <a:pPr indent="0" marL="0">
              <a:buNone/>
            </a:pPr>
            <a:r>
              <a:rPr lang="en-US" sz="1100" dirty="0">
                <a:solidFill>
                  <a:srgbClr val="1A1A1A"/>
                </a:solidFill>
                <a:latin typeface="Calibri" pitchFamily="34" charset="0"/>
                <a:ea typeface="Calibri" pitchFamily="34" charset="-122"/>
                <a:cs typeface="Calibri" pitchFamily="34" charset="-120"/>
              </a:rPr>
              <a:t>+ Hand-to-Ear Gesture</a:t>
            </a:r>
            <a:endParaRPr lang="en-US" sz="1100" dirty="0"/>
          </a:p>
        </p:txBody>
      </p:sp>
      <p:sp>
        <p:nvSpPr>
          <p:cNvPr id="23" name="Shape 21"/>
          <p:cNvSpPr/>
          <p:nvPr/>
        </p:nvSpPr>
        <p:spPr>
          <a:xfrm>
            <a:off x="3200400" y="3794760"/>
            <a:ext cx="1143000" cy="411480"/>
          </a:xfrm>
          <a:prstGeom prst="roundRect">
            <a:avLst>
              <a:gd name="adj" fmla="val 22222"/>
            </a:avLst>
          </a:prstGeom>
          <a:solidFill>
            <a:srgbClr val="2E75B6">
              <a:alpha val="15000"/>
            </a:srgbClr>
          </a:solidFill>
          <a:ln w="12700">
            <a:solidFill>
              <a:srgbClr val="2E75B6"/>
            </a:solidFill>
            <a:prstDash val="solid"/>
          </a:ln>
        </p:spPr>
      </p:sp>
      <p:sp>
        <p:nvSpPr>
          <p:cNvPr id="24" name="Text 22"/>
          <p:cNvSpPr/>
          <p:nvPr/>
        </p:nvSpPr>
        <p:spPr>
          <a:xfrm>
            <a:off x="3200400" y="3794760"/>
            <a:ext cx="1143000" cy="411480"/>
          </a:xfrm>
          <a:prstGeom prst="rect">
            <a:avLst/>
          </a:prstGeom>
          <a:noFill/>
          <a:ln/>
        </p:spPr>
        <p:txBody>
          <a:bodyPr wrap="square" lIns="0" tIns="0" rIns="0" bIns="0" rtlCol="0" anchor="ctr"/>
          <a:lstStyle/>
          <a:p>
            <a:pPr algn="ctr" indent="0" marL="0">
              <a:buNone/>
            </a:pPr>
            <a:r>
              <a:rPr lang="en-US" sz="1000" b="1" dirty="0">
                <a:solidFill>
                  <a:srgbClr val="2E75B6"/>
                </a:solidFill>
                <a:latin typeface="Calibri" pitchFamily="34" charset="0"/>
                <a:ea typeface="Calibri" pitchFamily="34" charset="-122"/>
                <a:cs typeface="Calibri" pitchFamily="34" charset="-120"/>
              </a:rPr>
              <a:t>99.9% accuracy</a:t>
            </a:r>
            <a:endParaRPr lang="en-US" sz="1000" dirty="0"/>
          </a:p>
        </p:txBody>
      </p:sp>
      <p:sp>
        <p:nvSpPr>
          <p:cNvPr id="25" name="Shape 23"/>
          <p:cNvSpPr/>
          <p:nvPr/>
        </p:nvSpPr>
        <p:spPr>
          <a:xfrm>
            <a:off x="4800600" y="3200400"/>
            <a:ext cx="4023360" cy="1417320"/>
          </a:xfrm>
          <a:prstGeom prst="roundRect">
            <a:avLst>
              <a:gd name="adj" fmla="val 9032"/>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26" name="Shape 24"/>
          <p:cNvSpPr/>
          <p:nvPr/>
        </p:nvSpPr>
        <p:spPr>
          <a:xfrm>
            <a:off x="4800600" y="3200400"/>
            <a:ext cx="4023360" cy="457200"/>
          </a:xfrm>
          <a:prstGeom prst="roundRect">
            <a:avLst>
              <a:gd name="adj" fmla="val 28000"/>
            </a:avLst>
          </a:prstGeom>
          <a:solidFill>
            <a:srgbClr val="2E8B57"/>
          </a:solidFill>
          <a:ln w="12700">
            <a:solidFill>
              <a:srgbClr val="2E8B57"/>
            </a:solidFill>
            <a:prstDash val="solid"/>
          </a:ln>
        </p:spPr>
      </p:sp>
      <p:sp>
        <p:nvSpPr>
          <p:cNvPr id="27" name="Shape 25"/>
          <p:cNvSpPr/>
          <p:nvPr/>
        </p:nvSpPr>
        <p:spPr>
          <a:xfrm>
            <a:off x="4800600" y="3474720"/>
            <a:ext cx="4023360" cy="182880"/>
          </a:xfrm>
          <a:prstGeom prst="rect">
            <a:avLst/>
          </a:prstGeom>
          <a:solidFill>
            <a:srgbClr val="2E8B57"/>
          </a:solidFill>
          <a:ln w="12700">
            <a:solidFill>
              <a:srgbClr val="2E8B57"/>
            </a:solidFill>
            <a:prstDash val="solid"/>
          </a:ln>
        </p:spPr>
      </p:sp>
      <p:sp>
        <p:nvSpPr>
          <p:cNvPr id="28" name="Text 26"/>
          <p:cNvSpPr/>
          <p:nvPr/>
        </p:nvSpPr>
        <p:spPr>
          <a:xfrm>
            <a:off x="4937760" y="3273552"/>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Smoking/Vape</a:t>
            </a:r>
            <a:endParaRPr lang="en-US" sz="1500" dirty="0"/>
          </a:p>
        </p:txBody>
      </p:sp>
      <p:sp>
        <p:nvSpPr>
          <p:cNvPr id="29" name="Text 27"/>
          <p:cNvSpPr/>
          <p:nvPr/>
        </p:nvSpPr>
        <p:spPr>
          <a:xfrm>
            <a:off x="4983480" y="3730752"/>
            <a:ext cx="237744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YOLOv8 Detection</a:t>
            </a:r>
            <a:endParaRPr lang="en-US" sz="1100" dirty="0"/>
          </a:p>
          <a:p>
            <a:pPr indent="0" marL="0">
              <a:buNone/>
            </a:pPr>
            <a:r>
              <a:rPr lang="en-US" sz="1100" dirty="0">
                <a:solidFill>
                  <a:srgbClr val="1A1A1A"/>
                </a:solidFill>
                <a:latin typeface="Calibri" pitchFamily="34" charset="0"/>
                <a:ea typeface="Calibri" pitchFamily="34" charset="-122"/>
                <a:cs typeface="Calibri" pitchFamily="34" charset="-120"/>
              </a:rPr>
              <a:t>+ CBAM Attention Module</a:t>
            </a:r>
            <a:endParaRPr lang="en-US" sz="1100" dirty="0"/>
          </a:p>
        </p:txBody>
      </p:sp>
      <p:sp>
        <p:nvSpPr>
          <p:cNvPr id="30" name="Shape 28"/>
          <p:cNvSpPr/>
          <p:nvPr/>
        </p:nvSpPr>
        <p:spPr>
          <a:xfrm>
            <a:off x="7543800" y="3794760"/>
            <a:ext cx="1143000" cy="411480"/>
          </a:xfrm>
          <a:prstGeom prst="roundRect">
            <a:avLst>
              <a:gd name="adj" fmla="val 22222"/>
            </a:avLst>
          </a:prstGeom>
          <a:solidFill>
            <a:srgbClr val="2E8B57">
              <a:alpha val="15000"/>
            </a:srgbClr>
          </a:solidFill>
          <a:ln w="12700">
            <a:solidFill>
              <a:srgbClr val="2E8B57"/>
            </a:solidFill>
            <a:prstDash val="solid"/>
          </a:ln>
        </p:spPr>
      </p:sp>
      <p:sp>
        <p:nvSpPr>
          <p:cNvPr id="31" name="Text 29"/>
          <p:cNvSpPr/>
          <p:nvPr/>
        </p:nvSpPr>
        <p:spPr>
          <a:xfrm>
            <a:off x="7543800" y="3794760"/>
            <a:ext cx="1143000" cy="4114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64.4% mAP@0.5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System Architecture</a:t>
            </a:r>
            <a:endParaRPr lang="en-US" sz="3600" dirty="0"/>
          </a:p>
        </p:txBody>
      </p:sp>
      <p:pic>
        <p:nvPicPr>
          <p:cNvPr id="3" name="Image 0" descr="/home/claude/presentation/arch.png">    </p:cNvPr>
          <p:cNvPicPr>
            <a:picLocks noChangeAspect="1"/>
          </p:cNvPicPr>
          <p:nvPr/>
        </p:nvPicPr>
        <p:blipFill>
          <a:blip r:embed="rId1"/>
          <a:srcRect l="0" r="0" t="0" b="0"/>
          <a:stretch/>
        </p:blipFill>
        <p:spPr>
          <a:xfrm>
            <a:off x="365760" y="841248"/>
            <a:ext cx="8412480"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6E"/>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Our Technical Contribution</a:t>
            </a:r>
            <a:endParaRPr lang="en-US" sz="3600" dirty="0"/>
          </a:p>
        </p:txBody>
      </p:sp>
      <p:sp>
        <p:nvSpPr>
          <p:cNvPr id="3" name="Text 1"/>
          <p:cNvSpPr/>
          <p:nvPr/>
        </p:nvSpPr>
        <p:spPr>
          <a:xfrm>
            <a:off x="457200" y="749808"/>
            <a:ext cx="82296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CBAM — Convolutional Block Attention Module  (Woo et al., ECCV 2018)</a:t>
            </a:r>
            <a:endParaRPr lang="en-US" sz="1400" dirty="0"/>
          </a:p>
        </p:txBody>
      </p:sp>
      <p:pic>
        <p:nvPicPr>
          <p:cNvPr id="4" name="Image 0" descr="/home/claude/presentation/cbam.png">    </p:cNvPr>
          <p:cNvPicPr>
            <a:picLocks noChangeAspect="1"/>
          </p:cNvPicPr>
          <p:nvPr/>
        </p:nvPicPr>
        <p:blipFill>
          <a:blip r:embed="rId1"/>
          <a:srcRect l="0" r="0" t="0" b="0"/>
          <a:stretch/>
        </p:blipFill>
        <p:spPr>
          <a:xfrm>
            <a:off x="365760" y="1170432"/>
            <a:ext cx="8412480" cy="2240280"/>
          </a:xfrm>
          <a:prstGeom prst="rect">
            <a:avLst/>
          </a:prstGeom>
        </p:spPr>
      </p:pic>
      <p:sp>
        <p:nvSpPr>
          <p:cNvPr id="5" name="Shape 2"/>
          <p:cNvSpPr/>
          <p:nvPr/>
        </p:nvSpPr>
        <p:spPr>
          <a:xfrm>
            <a:off x="457200" y="3566160"/>
            <a:ext cx="1920240" cy="1325880"/>
          </a:xfrm>
          <a:prstGeom prst="roundRect">
            <a:avLst>
              <a:gd name="adj" fmla="val 8276"/>
            </a:avLst>
          </a:prstGeom>
          <a:solidFill>
            <a:srgbClr val="2E75B6">
              <a:alpha val="25000"/>
            </a:srgbClr>
          </a:solidFill>
          <a:ln w="12700">
            <a:solidFill>
              <a:srgbClr val="2E75B6"/>
            </a:solidFill>
            <a:prstDash val="solid"/>
          </a:ln>
        </p:spPr>
      </p:sp>
      <p:sp>
        <p:nvSpPr>
          <p:cNvPr id="6" name="Text 3"/>
          <p:cNvSpPr/>
          <p:nvPr/>
        </p:nvSpPr>
        <p:spPr>
          <a:xfrm>
            <a:off x="457200" y="3639312"/>
            <a:ext cx="1920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Channel Attention</a:t>
            </a:r>
            <a:endParaRPr lang="en-US" sz="1200" dirty="0"/>
          </a:p>
        </p:txBody>
      </p:sp>
      <p:sp>
        <p:nvSpPr>
          <p:cNvPr id="7" name="Text 4"/>
          <p:cNvSpPr/>
          <p:nvPr/>
        </p:nvSpPr>
        <p:spPr>
          <a:xfrm>
            <a:off x="457200" y="4069080"/>
            <a:ext cx="1920240"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Learns WHICH feature</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channels matter most</a:t>
            </a:r>
            <a:endParaRPr lang="en-US" sz="1100" dirty="0"/>
          </a:p>
        </p:txBody>
      </p:sp>
      <p:sp>
        <p:nvSpPr>
          <p:cNvPr id="8" name="Shape 5"/>
          <p:cNvSpPr/>
          <p:nvPr/>
        </p:nvSpPr>
        <p:spPr>
          <a:xfrm>
            <a:off x="2532888" y="3566160"/>
            <a:ext cx="1920240" cy="1325880"/>
          </a:xfrm>
          <a:prstGeom prst="roundRect">
            <a:avLst>
              <a:gd name="adj" fmla="val 8276"/>
            </a:avLst>
          </a:prstGeom>
          <a:solidFill>
            <a:srgbClr val="2E75B6">
              <a:alpha val="25000"/>
            </a:srgbClr>
          </a:solidFill>
          <a:ln w="12700">
            <a:solidFill>
              <a:srgbClr val="2E75B6"/>
            </a:solidFill>
            <a:prstDash val="solid"/>
          </a:ln>
        </p:spPr>
      </p:sp>
      <p:sp>
        <p:nvSpPr>
          <p:cNvPr id="9" name="Text 6"/>
          <p:cNvSpPr/>
          <p:nvPr/>
        </p:nvSpPr>
        <p:spPr>
          <a:xfrm>
            <a:off x="2532888" y="3639312"/>
            <a:ext cx="1920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Spatial Attention</a:t>
            </a:r>
            <a:endParaRPr lang="en-US" sz="1200" dirty="0"/>
          </a:p>
        </p:txBody>
      </p:sp>
      <p:sp>
        <p:nvSpPr>
          <p:cNvPr id="10" name="Text 7"/>
          <p:cNvSpPr/>
          <p:nvPr/>
        </p:nvSpPr>
        <p:spPr>
          <a:xfrm>
            <a:off x="2532888" y="4069080"/>
            <a:ext cx="1920240"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Learns WHERE in the</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image to focus</a:t>
            </a:r>
            <a:endParaRPr lang="en-US" sz="1100" dirty="0"/>
          </a:p>
        </p:txBody>
      </p:sp>
      <p:sp>
        <p:nvSpPr>
          <p:cNvPr id="11" name="Shape 8"/>
          <p:cNvSpPr/>
          <p:nvPr/>
        </p:nvSpPr>
        <p:spPr>
          <a:xfrm>
            <a:off x="4608576" y="3566160"/>
            <a:ext cx="1920240" cy="1325880"/>
          </a:xfrm>
          <a:prstGeom prst="roundRect">
            <a:avLst>
              <a:gd name="adj" fmla="val 8276"/>
            </a:avLst>
          </a:prstGeom>
          <a:solidFill>
            <a:srgbClr val="2E75B6">
              <a:alpha val="25000"/>
            </a:srgbClr>
          </a:solidFill>
          <a:ln w="12700">
            <a:solidFill>
              <a:srgbClr val="2E75B6"/>
            </a:solidFill>
            <a:prstDash val="solid"/>
          </a:ln>
        </p:spPr>
      </p:sp>
      <p:sp>
        <p:nvSpPr>
          <p:cNvPr id="12" name="Text 9"/>
          <p:cNvSpPr/>
          <p:nvPr/>
        </p:nvSpPr>
        <p:spPr>
          <a:xfrm>
            <a:off x="4608576" y="3639312"/>
            <a:ext cx="1920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Insertion Point</a:t>
            </a:r>
            <a:endParaRPr lang="en-US" sz="1200" dirty="0"/>
          </a:p>
        </p:txBody>
      </p:sp>
      <p:sp>
        <p:nvSpPr>
          <p:cNvPr id="13" name="Text 10"/>
          <p:cNvSpPr/>
          <p:nvPr/>
        </p:nvSpPr>
        <p:spPr>
          <a:xfrm>
            <a:off x="4608576" y="4069080"/>
            <a:ext cx="1920240"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Backbone layer 8,</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before SPPF</a:t>
            </a:r>
            <a:endParaRPr lang="en-US" sz="1100" dirty="0"/>
          </a:p>
        </p:txBody>
      </p:sp>
      <p:sp>
        <p:nvSpPr>
          <p:cNvPr id="14" name="Shape 11"/>
          <p:cNvSpPr/>
          <p:nvPr/>
        </p:nvSpPr>
        <p:spPr>
          <a:xfrm>
            <a:off x="6684264" y="3566160"/>
            <a:ext cx="1920240" cy="1325880"/>
          </a:xfrm>
          <a:prstGeom prst="roundRect">
            <a:avLst>
              <a:gd name="adj" fmla="val 8276"/>
            </a:avLst>
          </a:prstGeom>
          <a:solidFill>
            <a:srgbClr val="2E75B6">
              <a:alpha val="25000"/>
            </a:srgbClr>
          </a:solidFill>
          <a:ln w="12700">
            <a:solidFill>
              <a:srgbClr val="2E75B6"/>
            </a:solidFill>
            <a:prstDash val="solid"/>
          </a:ln>
        </p:spPr>
      </p:sp>
      <p:sp>
        <p:nvSpPr>
          <p:cNvPr id="15" name="Text 12"/>
          <p:cNvSpPr/>
          <p:nvPr/>
        </p:nvSpPr>
        <p:spPr>
          <a:xfrm>
            <a:off x="6684264" y="3639312"/>
            <a:ext cx="1920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Why It Helps</a:t>
            </a:r>
            <a:endParaRPr lang="en-US" sz="1200" dirty="0"/>
          </a:p>
        </p:txBody>
      </p:sp>
      <p:sp>
        <p:nvSpPr>
          <p:cNvPr id="16" name="Text 13"/>
          <p:cNvSpPr/>
          <p:nvPr/>
        </p:nvSpPr>
        <p:spPr>
          <a:xfrm>
            <a:off x="6684264" y="4069080"/>
            <a:ext cx="1920240" cy="7315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Cigarettes &amp; vapes are</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tiny, easy to miss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Datasets &amp; Training</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2560320"/>
        </p:xfrm>
        <a:graphic>
          <a:graphicData uri="http://schemas.openxmlformats.org/drawingml/2006/table">
            <a:tbl>
              <a:tblPr/>
              <a:tblGrid>
                <a:gridCol w="1645920"/>
                <a:gridCol w="2926080"/>
                <a:gridCol w="1005840"/>
                <a:gridCol w="1371600"/>
                <a:gridCol w="146304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Detector</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solidFill>
                      <a:srgbClr val="1A3A6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solidFill>
                      <a:srgbClr val="1A3A6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Images</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solidFill>
                      <a:srgbClr val="1A3A6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solidFill>
                      <a:srgbClr val="1A3A6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solidFill>
                      <a:srgbClr val="1A3A6E"/>
                    </a:solidFill>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Drowsiness</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Driver Drowsiness Eye Dataset</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1,452</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Classification</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Kaggle</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Yawning</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Yawn / No-Yawn Face Dataset</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5,056</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Classification</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Kaggle</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Phone Usage</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State Farm Distracted Driver Detection</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4,978</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Classification</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Kaggle</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Smoking/Vape</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Smoking_person v3 (merged, 2 sources)</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8,013</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Detection</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Roboflow</a:t>
                      </a:r>
                      <a:endParaRPr lang="en-US" sz="1300" dirty="0">
                        <a:latin typeface="Calibri" charset="0"/>
                        <a:ea typeface="Calibri" charset="0"/>
                        <a:cs typeface="Calibri" charset="0"/>
                      </a:endParaRPr>
                    </a:p>
                  </a:txBody>
                  <a:tcPr marL="91440" marR="91440" marT="45720" marB="45720">
                    <a:lnL w="12700" cap="flat" cmpd="sng" algn="ctr">
                      <a:solidFill>
                        <a:srgbClr val="DDE6F0"/>
                      </a:solidFill>
                      <a:prstDash val="solid"/>
                      <a:round/>
                      <a:headEnd type="none" w="med" len="med"/>
                      <a:tailEnd type="none" w="med" len="med"/>
                    </a:lnL>
                    <a:lnR w="12700" cap="flat" cmpd="sng" algn="ctr">
                      <a:solidFill>
                        <a:srgbClr val="DDE6F0"/>
                      </a:solidFill>
                      <a:prstDash val="solid"/>
                      <a:round/>
                      <a:headEnd type="none" w="med" len="med"/>
                      <a:tailEnd type="none" w="med" len="med"/>
                    </a:lnR>
                    <a:lnT w="12700" cap="flat" cmpd="sng" algn="ctr">
                      <a:solidFill>
                        <a:srgbClr val="DDE6F0"/>
                      </a:solidFill>
                      <a:prstDash val="solid"/>
                      <a:round/>
                      <a:headEnd type="none" w="med" len="med"/>
                      <a:tailEnd type="none" w="med" len="med"/>
                    </a:lnT>
                    <a:lnB w="12700" cap="flat" cmpd="sng" algn="ctr">
                      <a:solidFill>
                        <a:srgbClr val="DDE6F0"/>
                      </a:solidFill>
                      <a:prstDash val="solid"/>
                      <a:round/>
                      <a:headEnd type="none" w="med" len="med"/>
                      <a:tailEnd type="none" w="med" len="med"/>
                    </a:lnB>
                  </a:tcPr>
                </a:tc>
              </a:tr>
            </a:tbl>
          </a:graphicData>
        </a:graphic>
      </p:graphicFrame>
      <p:sp>
        <p:nvSpPr>
          <p:cNvPr id="4" name="Shape 1"/>
          <p:cNvSpPr/>
          <p:nvPr/>
        </p:nvSpPr>
        <p:spPr>
          <a:xfrm>
            <a:off x="365760" y="3657600"/>
            <a:ext cx="8412480" cy="1234440"/>
          </a:xfrm>
          <a:prstGeom prst="roundRect">
            <a:avLst>
              <a:gd name="adj" fmla="val 8889"/>
            </a:avLst>
          </a:prstGeom>
          <a:solidFill>
            <a:srgbClr val="FFF3E0"/>
          </a:solidFill>
          <a:ln w="19050">
            <a:solidFill>
              <a:srgbClr val="E67E22"/>
            </a:solidFill>
            <a:prstDash val="solid"/>
          </a:ln>
          <a:effectLst>
            <a:outerShdw sx="100000" sy="100000" kx="0" ky="0" algn="bl" rotWithShape="0" blurRad="101600" dist="38100" dir="2700000">
              <a:srgbClr val="000000">
                <a:alpha val="14000"/>
              </a:srgbClr>
            </a:outerShdw>
          </a:effectLst>
        </p:spPr>
      </p:sp>
      <p:sp>
        <p:nvSpPr>
          <p:cNvPr id="5" name="Text 2"/>
          <p:cNvSpPr/>
          <p:nvPr/>
        </p:nvSpPr>
        <p:spPr>
          <a:xfrm>
            <a:off x="640080" y="3749040"/>
            <a:ext cx="7863840" cy="347472"/>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Key Challenge — Class Imbalance in Smoking Dataset:</a:t>
            </a:r>
            <a:endParaRPr lang="en-US" sz="1300" dirty="0"/>
          </a:p>
        </p:txBody>
      </p:sp>
      <p:sp>
        <p:nvSpPr>
          <p:cNvPr id="6" name="Text 3"/>
          <p:cNvSpPr/>
          <p:nvPr/>
        </p:nvSpPr>
        <p:spPr>
          <a:xfrm>
            <a:off x="640080" y="4114800"/>
            <a:ext cx="7863840" cy="59436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Smoke: 5,449 instances  ·  Person: 5,076  ·  Cigarette: 624  ·  Vape: only 54  (100:1 ratio)</a:t>
            </a:r>
            <a:endParaRPr lang="en-US" sz="1250" dirty="0"/>
          </a:p>
        </p:txBody>
      </p:sp>
      <p:sp>
        <p:nvSpPr>
          <p:cNvPr id="7" name="Text 4"/>
          <p:cNvSpPr/>
          <p:nvPr/>
        </p:nvSpPr>
        <p:spPr>
          <a:xfrm>
            <a:off x="640080" y="4480560"/>
            <a:ext cx="7863840" cy="320040"/>
          </a:xfrm>
          <a:prstGeom prst="rect">
            <a:avLst/>
          </a:prstGeom>
          <a:noFill/>
          <a:ln/>
        </p:spPr>
        <p:txBody>
          <a:bodyPr wrap="square" lIns="0" tIns="0" rIns="0" bIns="0" rtlCol="0" anchor="ctr"/>
          <a:lstStyle/>
          <a:p>
            <a:pPr indent="0" marL="0">
              <a:buNone/>
            </a:pPr>
            <a:r>
              <a:rPr lang="en-US" sz="1150" i="1" dirty="0">
                <a:solidFill>
                  <a:srgbClr val="5D6D7E"/>
                </a:solidFill>
                <a:latin typeface="Calibri" pitchFamily="34" charset="0"/>
                <a:ea typeface="Calibri" pitchFamily="34" charset="-122"/>
                <a:cs typeface="Calibri" pitchFamily="34" charset="-120"/>
              </a:rPr>
              <a:t>→  Solved by merging two Roboflow datasets + heavy augmentation, growing training set from 5,658 to 8,013 images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01168"/>
            <a:ext cx="4572000" cy="54864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Results</a:t>
            </a:r>
            <a:endParaRPr lang="en-US" sz="3600" dirty="0"/>
          </a:p>
        </p:txBody>
      </p:sp>
      <p:pic>
        <p:nvPicPr>
          <p:cNvPr id="3" name="Image 0" descr="/home/claude/presentation/results.png">    </p:cNvPr>
          <p:cNvPicPr>
            <a:picLocks noChangeAspect="1"/>
          </p:cNvPicPr>
          <p:nvPr/>
        </p:nvPicPr>
        <p:blipFill>
          <a:blip r:embed="rId1"/>
          <a:srcRect l="0" r="0" t="0" b="0"/>
          <a:stretch/>
        </p:blipFill>
        <p:spPr>
          <a:xfrm>
            <a:off x="365760" y="841248"/>
            <a:ext cx="5303520" cy="4114800"/>
          </a:xfrm>
          <a:prstGeom prst="rect">
            <a:avLst/>
          </a:prstGeom>
        </p:spPr>
      </p:pic>
      <p:sp>
        <p:nvSpPr>
          <p:cNvPr id="4" name="Shape 1"/>
          <p:cNvSpPr/>
          <p:nvPr/>
        </p:nvSpPr>
        <p:spPr>
          <a:xfrm>
            <a:off x="5943600" y="804672"/>
            <a:ext cx="2834640" cy="987552"/>
          </a:xfrm>
          <a:prstGeom prst="roundRect">
            <a:avLst>
              <a:gd name="adj" fmla="val 11111"/>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5" name="Shape 2"/>
          <p:cNvSpPr/>
          <p:nvPr/>
        </p:nvSpPr>
        <p:spPr>
          <a:xfrm>
            <a:off x="5943600" y="804672"/>
            <a:ext cx="320040" cy="987552"/>
          </a:xfrm>
          <a:prstGeom prst="roundRect">
            <a:avLst>
              <a:gd name="adj" fmla="val 22857"/>
            </a:avLst>
          </a:prstGeom>
          <a:solidFill>
            <a:srgbClr val="C0392B"/>
          </a:solidFill>
          <a:ln w="12700">
            <a:solidFill>
              <a:srgbClr val="C0392B"/>
            </a:solidFill>
            <a:prstDash val="solid"/>
          </a:ln>
        </p:spPr>
      </p:sp>
      <p:sp>
        <p:nvSpPr>
          <p:cNvPr id="6" name="Text 3"/>
          <p:cNvSpPr/>
          <p:nvPr/>
        </p:nvSpPr>
        <p:spPr>
          <a:xfrm>
            <a:off x="6400800" y="850392"/>
            <a:ext cx="2286000" cy="530352"/>
          </a:xfrm>
          <a:prstGeom prst="rect">
            <a:avLst/>
          </a:prstGeom>
          <a:noFill/>
          <a:ln/>
        </p:spPr>
        <p:txBody>
          <a:bodyPr wrap="square" lIns="0" tIns="0" rIns="0" bIns="0" rtlCol="0" anchor="ctr"/>
          <a:lstStyle/>
          <a:p>
            <a:pPr indent="0" marL="0">
              <a:buNone/>
            </a:pPr>
            <a:r>
              <a:rPr lang="en-US" sz="3000" b="1" dirty="0">
                <a:solidFill>
                  <a:srgbClr val="C0392B"/>
                </a:solidFill>
                <a:latin typeface="Cambria" pitchFamily="34" charset="0"/>
                <a:ea typeface="Cambria" pitchFamily="34" charset="-122"/>
                <a:cs typeface="Cambria" pitchFamily="34" charset="-120"/>
              </a:rPr>
              <a:t>100.0%</a:t>
            </a:r>
            <a:endParaRPr lang="en-US" sz="3000" dirty="0"/>
          </a:p>
        </p:txBody>
      </p:sp>
      <p:sp>
        <p:nvSpPr>
          <p:cNvPr id="7" name="Text 4"/>
          <p:cNvSpPr/>
          <p:nvPr/>
        </p:nvSpPr>
        <p:spPr>
          <a:xfrm>
            <a:off x="6400800" y="1353312"/>
            <a:ext cx="2286000" cy="411480"/>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Drowsiness</a:t>
            </a:r>
            <a:endParaRPr lang="en-US" sz="1100" dirty="0"/>
          </a:p>
          <a:p>
            <a:pPr indent="0" marL="0">
              <a:buNone/>
            </a:pPr>
            <a:r>
              <a:rPr lang="en-US" sz="1100" dirty="0">
                <a:solidFill>
                  <a:srgbClr val="5D6D7E"/>
                </a:solidFill>
                <a:latin typeface="Calibri" pitchFamily="34" charset="0"/>
                <a:ea typeface="Calibri" pitchFamily="34" charset="-122"/>
                <a:cs typeface="Calibri" pitchFamily="34" charset="-120"/>
              </a:rPr>
              <a:t>Accuracy</a:t>
            </a:r>
            <a:endParaRPr lang="en-US" sz="1100" dirty="0"/>
          </a:p>
        </p:txBody>
      </p:sp>
      <p:sp>
        <p:nvSpPr>
          <p:cNvPr id="8" name="Shape 5"/>
          <p:cNvSpPr/>
          <p:nvPr/>
        </p:nvSpPr>
        <p:spPr>
          <a:xfrm>
            <a:off x="5943600" y="1901952"/>
            <a:ext cx="2834640" cy="987552"/>
          </a:xfrm>
          <a:prstGeom prst="roundRect">
            <a:avLst>
              <a:gd name="adj" fmla="val 11111"/>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9" name="Shape 6"/>
          <p:cNvSpPr/>
          <p:nvPr/>
        </p:nvSpPr>
        <p:spPr>
          <a:xfrm>
            <a:off x="5943600" y="1901952"/>
            <a:ext cx="320040" cy="987552"/>
          </a:xfrm>
          <a:prstGeom prst="roundRect">
            <a:avLst>
              <a:gd name="adj" fmla="val 22857"/>
            </a:avLst>
          </a:prstGeom>
          <a:solidFill>
            <a:srgbClr val="E67E22"/>
          </a:solidFill>
          <a:ln w="12700">
            <a:solidFill>
              <a:srgbClr val="E67E22"/>
            </a:solidFill>
            <a:prstDash val="solid"/>
          </a:ln>
        </p:spPr>
      </p:sp>
      <p:sp>
        <p:nvSpPr>
          <p:cNvPr id="10" name="Text 7"/>
          <p:cNvSpPr/>
          <p:nvPr/>
        </p:nvSpPr>
        <p:spPr>
          <a:xfrm>
            <a:off x="6400800" y="1947672"/>
            <a:ext cx="2286000" cy="530352"/>
          </a:xfrm>
          <a:prstGeom prst="rect">
            <a:avLst/>
          </a:prstGeom>
          <a:noFill/>
          <a:ln/>
        </p:spPr>
        <p:txBody>
          <a:bodyPr wrap="square" lIns="0" tIns="0" rIns="0" bIns="0" rtlCol="0" anchor="ctr"/>
          <a:lstStyle/>
          <a:p>
            <a:pPr indent="0" marL="0">
              <a:buNone/>
            </a:pPr>
            <a:r>
              <a:rPr lang="en-US" sz="3000" b="1" dirty="0">
                <a:solidFill>
                  <a:srgbClr val="E67E22"/>
                </a:solidFill>
                <a:latin typeface="Cambria" pitchFamily="34" charset="0"/>
                <a:ea typeface="Cambria" pitchFamily="34" charset="-122"/>
                <a:cs typeface="Cambria" pitchFamily="34" charset="-120"/>
              </a:rPr>
              <a:t>98.7%</a:t>
            </a:r>
            <a:endParaRPr lang="en-US" sz="3000" dirty="0"/>
          </a:p>
        </p:txBody>
      </p:sp>
      <p:sp>
        <p:nvSpPr>
          <p:cNvPr id="11" name="Text 8"/>
          <p:cNvSpPr/>
          <p:nvPr/>
        </p:nvSpPr>
        <p:spPr>
          <a:xfrm>
            <a:off x="6400800" y="2450592"/>
            <a:ext cx="2286000" cy="411480"/>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Yawning</a:t>
            </a:r>
            <a:endParaRPr lang="en-US" sz="1100" dirty="0"/>
          </a:p>
          <a:p>
            <a:pPr indent="0" marL="0">
              <a:buNone/>
            </a:pPr>
            <a:r>
              <a:rPr lang="en-US" sz="1100" dirty="0">
                <a:solidFill>
                  <a:srgbClr val="5D6D7E"/>
                </a:solidFill>
                <a:latin typeface="Calibri" pitchFamily="34" charset="0"/>
                <a:ea typeface="Calibri" pitchFamily="34" charset="-122"/>
                <a:cs typeface="Calibri" pitchFamily="34" charset="-120"/>
              </a:rPr>
              <a:t>Accuracy</a:t>
            </a:r>
            <a:endParaRPr lang="en-US" sz="1100" dirty="0"/>
          </a:p>
        </p:txBody>
      </p:sp>
      <p:sp>
        <p:nvSpPr>
          <p:cNvPr id="12" name="Shape 9"/>
          <p:cNvSpPr/>
          <p:nvPr/>
        </p:nvSpPr>
        <p:spPr>
          <a:xfrm>
            <a:off x="5943600" y="2999232"/>
            <a:ext cx="2834640" cy="987552"/>
          </a:xfrm>
          <a:prstGeom prst="roundRect">
            <a:avLst>
              <a:gd name="adj" fmla="val 11111"/>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3" name="Shape 10"/>
          <p:cNvSpPr/>
          <p:nvPr/>
        </p:nvSpPr>
        <p:spPr>
          <a:xfrm>
            <a:off x="5943600" y="2999232"/>
            <a:ext cx="320040" cy="987552"/>
          </a:xfrm>
          <a:prstGeom prst="roundRect">
            <a:avLst>
              <a:gd name="adj" fmla="val 22857"/>
            </a:avLst>
          </a:prstGeom>
          <a:solidFill>
            <a:srgbClr val="2E75B6"/>
          </a:solidFill>
          <a:ln w="12700">
            <a:solidFill>
              <a:srgbClr val="2E75B6"/>
            </a:solidFill>
            <a:prstDash val="solid"/>
          </a:ln>
        </p:spPr>
      </p:sp>
      <p:sp>
        <p:nvSpPr>
          <p:cNvPr id="14" name="Text 11"/>
          <p:cNvSpPr/>
          <p:nvPr/>
        </p:nvSpPr>
        <p:spPr>
          <a:xfrm>
            <a:off x="6400800" y="3044952"/>
            <a:ext cx="2286000" cy="530352"/>
          </a:xfrm>
          <a:prstGeom prst="rect">
            <a:avLst/>
          </a:prstGeom>
          <a:noFill/>
          <a:ln/>
        </p:spPr>
        <p:txBody>
          <a:bodyPr wrap="square" lIns="0" tIns="0" rIns="0" bIns="0" rtlCol="0" anchor="ctr"/>
          <a:lstStyle/>
          <a:p>
            <a:pPr indent="0" marL="0">
              <a:buNone/>
            </a:pPr>
            <a:r>
              <a:rPr lang="en-US" sz="3000" b="1" dirty="0">
                <a:solidFill>
                  <a:srgbClr val="2E75B6"/>
                </a:solidFill>
                <a:latin typeface="Cambria" pitchFamily="34" charset="0"/>
                <a:ea typeface="Cambria" pitchFamily="34" charset="-122"/>
                <a:cs typeface="Cambria" pitchFamily="34" charset="-120"/>
              </a:rPr>
              <a:t>99.9%</a:t>
            </a:r>
            <a:endParaRPr lang="en-US" sz="3000" dirty="0"/>
          </a:p>
        </p:txBody>
      </p:sp>
      <p:sp>
        <p:nvSpPr>
          <p:cNvPr id="15" name="Text 12"/>
          <p:cNvSpPr/>
          <p:nvPr/>
        </p:nvSpPr>
        <p:spPr>
          <a:xfrm>
            <a:off x="6400800" y="3547872"/>
            <a:ext cx="2286000" cy="411480"/>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Phone</a:t>
            </a:r>
            <a:endParaRPr lang="en-US" sz="1100" dirty="0"/>
          </a:p>
          <a:p>
            <a:pPr indent="0" marL="0">
              <a:buNone/>
            </a:pPr>
            <a:r>
              <a:rPr lang="en-US" sz="1100" dirty="0">
                <a:solidFill>
                  <a:srgbClr val="5D6D7E"/>
                </a:solidFill>
                <a:latin typeface="Calibri" pitchFamily="34" charset="0"/>
                <a:ea typeface="Calibri" pitchFamily="34" charset="-122"/>
                <a:cs typeface="Calibri" pitchFamily="34" charset="-120"/>
              </a:rPr>
              <a:t>Accuracy</a:t>
            </a:r>
            <a:endParaRPr lang="en-US" sz="1100" dirty="0"/>
          </a:p>
        </p:txBody>
      </p:sp>
      <p:sp>
        <p:nvSpPr>
          <p:cNvPr id="16" name="Shape 13"/>
          <p:cNvSpPr/>
          <p:nvPr/>
        </p:nvSpPr>
        <p:spPr>
          <a:xfrm>
            <a:off x="5943600" y="4096512"/>
            <a:ext cx="2834640" cy="987552"/>
          </a:xfrm>
          <a:prstGeom prst="roundRect">
            <a:avLst>
              <a:gd name="adj" fmla="val 11111"/>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7" name="Shape 14"/>
          <p:cNvSpPr/>
          <p:nvPr/>
        </p:nvSpPr>
        <p:spPr>
          <a:xfrm>
            <a:off x="5943600" y="4096512"/>
            <a:ext cx="320040" cy="987552"/>
          </a:xfrm>
          <a:prstGeom prst="roundRect">
            <a:avLst>
              <a:gd name="adj" fmla="val 22857"/>
            </a:avLst>
          </a:prstGeom>
          <a:solidFill>
            <a:srgbClr val="2E8B57"/>
          </a:solidFill>
          <a:ln w="12700">
            <a:solidFill>
              <a:srgbClr val="2E8B57"/>
            </a:solidFill>
            <a:prstDash val="solid"/>
          </a:ln>
        </p:spPr>
      </p:sp>
      <p:sp>
        <p:nvSpPr>
          <p:cNvPr id="18" name="Text 15"/>
          <p:cNvSpPr/>
          <p:nvPr/>
        </p:nvSpPr>
        <p:spPr>
          <a:xfrm>
            <a:off x="6400800" y="4142232"/>
            <a:ext cx="2286000" cy="530352"/>
          </a:xfrm>
          <a:prstGeom prst="rect">
            <a:avLst/>
          </a:prstGeom>
          <a:noFill/>
          <a:ln/>
        </p:spPr>
        <p:txBody>
          <a:bodyPr wrap="square" lIns="0" tIns="0" rIns="0" bIns="0" rtlCol="0" anchor="ctr"/>
          <a:lstStyle/>
          <a:p>
            <a:pPr indent="0" marL="0">
              <a:buNone/>
            </a:pPr>
            <a:r>
              <a:rPr lang="en-US" sz="3000" b="1" dirty="0">
                <a:solidFill>
                  <a:srgbClr val="2E8B57"/>
                </a:solidFill>
                <a:latin typeface="Cambria" pitchFamily="34" charset="0"/>
                <a:ea typeface="Cambria" pitchFamily="34" charset="-122"/>
                <a:cs typeface="Cambria" pitchFamily="34" charset="-120"/>
              </a:rPr>
              <a:t>64.4%</a:t>
            </a:r>
            <a:endParaRPr lang="en-US" sz="3000" dirty="0"/>
          </a:p>
        </p:txBody>
      </p:sp>
      <p:sp>
        <p:nvSpPr>
          <p:cNvPr id="19" name="Text 16"/>
          <p:cNvSpPr/>
          <p:nvPr/>
        </p:nvSpPr>
        <p:spPr>
          <a:xfrm>
            <a:off x="6400800" y="4645152"/>
            <a:ext cx="2286000" cy="411480"/>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Smoking</a:t>
            </a:r>
            <a:endParaRPr lang="en-US" sz="1100" dirty="0"/>
          </a:p>
          <a:p>
            <a:pPr indent="0" marL="0">
              <a:buNone/>
            </a:pPr>
            <a:r>
              <a:rPr lang="en-US" sz="1100" dirty="0">
                <a:solidFill>
                  <a:srgbClr val="5D6D7E"/>
                </a:solidFill>
                <a:latin typeface="Calibri" pitchFamily="34" charset="0"/>
                <a:ea typeface="Calibri" pitchFamily="34" charset="-122"/>
                <a:cs typeface="Calibri" pitchFamily="34" charset="-120"/>
              </a:rPr>
              <a:t>mAP@0.5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3A6E"/>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Live Demo</a:t>
            </a:r>
            <a:endParaRPr lang="en-US" sz="4400" dirty="0"/>
          </a:p>
        </p:txBody>
      </p:sp>
      <p:sp>
        <p:nvSpPr>
          <p:cNvPr id="3" name="Shape 1"/>
          <p:cNvSpPr/>
          <p:nvPr/>
        </p:nvSpPr>
        <p:spPr>
          <a:xfrm>
            <a:off x="365760" y="109728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4" name="Shape 2"/>
          <p:cNvSpPr/>
          <p:nvPr/>
        </p:nvSpPr>
        <p:spPr>
          <a:xfrm>
            <a:off x="548640" y="1261872"/>
            <a:ext cx="475488" cy="475488"/>
          </a:xfrm>
          <a:prstGeom prst="ellipse">
            <a:avLst/>
          </a:prstGeom>
          <a:solidFill>
            <a:srgbClr val="2E75B6"/>
          </a:solidFill>
          <a:ln w="12700">
            <a:solidFill>
              <a:srgbClr val="2E75B6"/>
            </a:solidFill>
            <a:prstDash val="solid"/>
          </a:ln>
        </p:spPr>
      </p:sp>
      <p:sp>
        <p:nvSpPr>
          <p:cNvPr id="5" name="Text 3"/>
          <p:cNvSpPr/>
          <p:nvPr/>
        </p:nvSpPr>
        <p:spPr>
          <a:xfrm>
            <a:off x="548640" y="12618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15568" y="126187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Server Startup</a:t>
            </a:r>
            <a:endParaRPr lang="en-US" sz="1400" dirty="0"/>
          </a:p>
        </p:txBody>
      </p:sp>
      <p:sp>
        <p:nvSpPr>
          <p:cNvPr id="7" name="Text 5"/>
          <p:cNvSpPr/>
          <p:nvPr/>
        </p:nvSpPr>
        <p:spPr>
          <a:xfrm>
            <a:off x="1115568" y="164592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Flask server loads all 4 AI models</a:t>
            </a:r>
            <a:endParaRPr lang="en-US" sz="1150" dirty="0"/>
          </a:p>
        </p:txBody>
      </p:sp>
      <p:sp>
        <p:nvSpPr>
          <p:cNvPr id="8" name="Shape 6"/>
          <p:cNvSpPr/>
          <p:nvPr/>
        </p:nvSpPr>
        <p:spPr>
          <a:xfrm>
            <a:off x="3218688" y="109728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9" name="Shape 7"/>
          <p:cNvSpPr/>
          <p:nvPr/>
        </p:nvSpPr>
        <p:spPr>
          <a:xfrm>
            <a:off x="3401568" y="1261872"/>
            <a:ext cx="475488" cy="475488"/>
          </a:xfrm>
          <a:prstGeom prst="ellipse">
            <a:avLst/>
          </a:prstGeom>
          <a:solidFill>
            <a:srgbClr val="2E75B6"/>
          </a:solidFill>
          <a:ln w="12700">
            <a:solidFill>
              <a:srgbClr val="2E75B6"/>
            </a:solidFill>
            <a:prstDash val="solid"/>
          </a:ln>
        </p:spPr>
      </p:sp>
      <p:sp>
        <p:nvSpPr>
          <p:cNvPr id="10" name="Text 8"/>
          <p:cNvSpPr/>
          <p:nvPr/>
        </p:nvSpPr>
        <p:spPr>
          <a:xfrm>
            <a:off x="3401568" y="12618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3968496" y="126187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 Connect</a:t>
            </a:r>
            <a:endParaRPr lang="en-US" sz="1400" dirty="0"/>
          </a:p>
        </p:txBody>
      </p:sp>
      <p:sp>
        <p:nvSpPr>
          <p:cNvPr id="12" name="Text 10"/>
          <p:cNvSpPr/>
          <p:nvPr/>
        </p:nvSpPr>
        <p:spPr>
          <a:xfrm>
            <a:off x="3968496" y="164592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Flutter app connects via WebSocket</a:t>
            </a:r>
            <a:endParaRPr lang="en-US" sz="1150" dirty="0"/>
          </a:p>
        </p:txBody>
      </p:sp>
      <p:sp>
        <p:nvSpPr>
          <p:cNvPr id="13" name="Shape 11"/>
          <p:cNvSpPr/>
          <p:nvPr/>
        </p:nvSpPr>
        <p:spPr>
          <a:xfrm>
            <a:off x="6071616" y="109728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14" name="Shape 12"/>
          <p:cNvSpPr/>
          <p:nvPr/>
        </p:nvSpPr>
        <p:spPr>
          <a:xfrm>
            <a:off x="6254496" y="1261872"/>
            <a:ext cx="475488" cy="475488"/>
          </a:xfrm>
          <a:prstGeom prst="ellipse">
            <a:avLst/>
          </a:prstGeom>
          <a:solidFill>
            <a:srgbClr val="C0392B"/>
          </a:solidFill>
          <a:ln w="12700">
            <a:solidFill>
              <a:srgbClr val="C0392B"/>
            </a:solidFill>
            <a:prstDash val="solid"/>
          </a:ln>
        </p:spPr>
      </p:sp>
      <p:sp>
        <p:nvSpPr>
          <p:cNvPr id="15" name="Text 13"/>
          <p:cNvSpPr/>
          <p:nvPr/>
        </p:nvSpPr>
        <p:spPr>
          <a:xfrm>
            <a:off x="6254496" y="12618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6821424" y="126187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Drowsiness</a:t>
            </a:r>
            <a:endParaRPr lang="en-US" sz="1400" dirty="0"/>
          </a:p>
        </p:txBody>
      </p:sp>
      <p:sp>
        <p:nvSpPr>
          <p:cNvPr id="17" name="Text 15"/>
          <p:cNvSpPr/>
          <p:nvPr/>
        </p:nvSpPr>
        <p:spPr>
          <a:xfrm>
            <a:off x="6821424" y="164592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Close eyes → EAR drops → ALERT</a:t>
            </a:r>
            <a:endParaRPr lang="en-US" sz="1150" dirty="0"/>
          </a:p>
        </p:txBody>
      </p:sp>
      <p:sp>
        <p:nvSpPr>
          <p:cNvPr id="18" name="Shape 16"/>
          <p:cNvSpPr/>
          <p:nvPr/>
        </p:nvSpPr>
        <p:spPr>
          <a:xfrm>
            <a:off x="365760" y="278892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19" name="Shape 17"/>
          <p:cNvSpPr/>
          <p:nvPr/>
        </p:nvSpPr>
        <p:spPr>
          <a:xfrm>
            <a:off x="548640" y="2953512"/>
            <a:ext cx="475488" cy="475488"/>
          </a:xfrm>
          <a:prstGeom prst="ellipse">
            <a:avLst/>
          </a:prstGeom>
          <a:solidFill>
            <a:srgbClr val="E67E22"/>
          </a:solidFill>
          <a:ln w="12700">
            <a:solidFill>
              <a:srgbClr val="E67E22"/>
            </a:solidFill>
            <a:prstDash val="solid"/>
          </a:ln>
        </p:spPr>
      </p:sp>
      <p:sp>
        <p:nvSpPr>
          <p:cNvPr id="20" name="Text 18"/>
          <p:cNvSpPr/>
          <p:nvPr/>
        </p:nvSpPr>
        <p:spPr>
          <a:xfrm>
            <a:off x="548640" y="29535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115568" y="295351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Yawning</a:t>
            </a:r>
            <a:endParaRPr lang="en-US" sz="1400" dirty="0"/>
          </a:p>
        </p:txBody>
      </p:sp>
      <p:sp>
        <p:nvSpPr>
          <p:cNvPr id="22" name="Text 20"/>
          <p:cNvSpPr/>
          <p:nvPr/>
        </p:nvSpPr>
        <p:spPr>
          <a:xfrm>
            <a:off x="1115568" y="333756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Yawn → MAR rises → ALERT</a:t>
            </a:r>
            <a:endParaRPr lang="en-US" sz="1150" dirty="0"/>
          </a:p>
        </p:txBody>
      </p:sp>
      <p:sp>
        <p:nvSpPr>
          <p:cNvPr id="23" name="Shape 21"/>
          <p:cNvSpPr/>
          <p:nvPr/>
        </p:nvSpPr>
        <p:spPr>
          <a:xfrm>
            <a:off x="3218688" y="278892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24" name="Shape 22"/>
          <p:cNvSpPr/>
          <p:nvPr/>
        </p:nvSpPr>
        <p:spPr>
          <a:xfrm>
            <a:off x="3401568" y="2953512"/>
            <a:ext cx="475488" cy="475488"/>
          </a:xfrm>
          <a:prstGeom prst="ellipse">
            <a:avLst/>
          </a:prstGeom>
          <a:solidFill>
            <a:srgbClr val="2E75B6"/>
          </a:solidFill>
          <a:ln w="12700">
            <a:solidFill>
              <a:srgbClr val="2E75B6"/>
            </a:solidFill>
            <a:prstDash val="solid"/>
          </a:ln>
        </p:spPr>
      </p:sp>
      <p:sp>
        <p:nvSpPr>
          <p:cNvPr id="25" name="Text 23"/>
          <p:cNvSpPr/>
          <p:nvPr/>
        </p:nvSpPr>
        <p:spPr>
          <a:xfrm>
            <a:off x="3401568" y="29535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4"/>
          <p:cNvSpPr/>
          <p:nvPr/>
        </p:nvSpPr>
        <p:spPr>
          <a:xfrm>
            <a:off x="3968496" y="295351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Phone Usage</a:t>
            </a:r>
            <a:endParaRPr lang="en-US" sz="1400" dirty="0"/>
          </a:p>
        </p:txBody>
      </p:sp>
      <p:sp>
        <p:nvSpPr>
          <p:cNvPr id="27" name="Text 25"/>
          <p:cNvSpPr/>
          <p:nvPr/>
        </p:nvSpPr>
        <p:spPr>
          <a:xfrm>
            <a:off x="3968496" y="333756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Phone to ear → YOLOv8 → ALERT</a:t>
            </a:r>
            <a:endParaRPr lang="en-US" sz="1150" dirty="0"/>
          </a:p>
        </p:txBody>
      </p:sp>
      <p:sp>
        <p:nvSpPr>
          <p:cNvPr id="28" name="Shape 26"/>
          <p:cNvSpPr/>
          <p:nvPr/>
        </p:nvSpPr>
        <p:spPr>
          <a:xfrm>
            <a:off x="6071616" y="2788920"/>
            <a:ext cx="2697480" cy="1508760"/>
          </a:xfrm>
          <a:prstGeom prst="roundRect">
            <a:avLst>
              <a:gd name="adj" fmla="val 8485"/>
            </a:avLst>
          </a:prstGeom>
          <a:solidFill>
            <a:srgbClr val="1D3560"/>
          </a:solidFill>
          <a:ln w="12700">
            <a:solidFill>
              <a:srgbClr val="2D4A7A"/>
            </a:solidFill>
            <a:prstDash val="solid"/>
          </a:ln>
          <a:effectLst>
            <a:outerShdw sx="100000" sy="100000" kx="0" ky="0" algn="bl" rotWithShape="0" blurRad="101600" dist="38100" dir="2700000">
              <a:srgbClr val="000000">
                <a:alpha val="14000"/>
              </a:srgbClr>
            </a:outerShdw>
          </a:effectLst>
        </p:spPr>
      </p:sp>
      <p:sp>
        <p:nvSpPr>
          <p:cNvPr id="29" name="Shape 27"/>
          <p:cNvSpPr/>
          <p:nvPr/>
        </p:nvSpPr>
        <p:spPr>
          <a:xfrm>
            <a:off x="6254496" y="2953512"/>
            <a:ext cx="475488" cy="475488"/>
          </a:xfrm>
          <a:prstGeom prst="ellipse">
            <a:avLst/>
          </a:prstGeom>
          <a:solidFill>
            <a:srgbClr val="2E8B57"/>
          </a:solidFill>
          <a:ln w="12700">
            <a:solidFill>
              <a:srgbClr val="2E8B57"/>
            </a:solidFill>
            <a:prstDash val="solid"/>
          </a:ln>
        </p:spPr>
      </p:sp>
      <p:sp>
        <p:nvSpPr>
          <p:cNvPr id="30" name="Text 28"/>
          <p:cNvSpPr/>
          <p:nvPr/>
        </p:nvSpPr>
        <p:spPr>
          <a:xfrm>
            <a:off x="6254496" y="29535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1" name="Text 29"/>
          <p:cNvSpPr/>
          <p:nvPr/>
        </p:nvSpPr>
        <p:spPr>
          <a:xfrm>
            <a:off x="6821424" y="2953512"/>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Smoking/Vaping</a:t>
            </a:r>
            <a:endParaRPr lang="en-US" sz="1400" dirty="0"/>
          </a:p>
        </p:txBody>
      </p:sp>
      <p:sp>
        <p:nvSpPr>
          <p:cNvPr id="32" name="Text 30"/>
          <p:cNvSpPr/>
          <p:nvPr/>
        </p:nvSpPr>
        <p:spPr>
          <a:xfrm>
            <a:off x="6821424" y="3337560"/>
            <a:ext cx="1828800" cy="685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Hand to mouth → CBAM → ALERT</a:t>
            </a:r>
            <a:endParaRPr lang="en-US" sz="1150" dirty="0"/>
          </a:p>
        </p:txBody>
      </p:sp>
      <p:sp>
        <p:nvSpPr>
          <p:cNvPr id="33" name="Text 31"/>
          <p:cNvSpPr/>
          <p:nvPr/>
        </p:nvSpPr>
        <p:spPr>
          <a:xfrm>
            <a:off x="457200" y="4526280"/>
            <a:ext cx="8229600" cy="347472"/>
          </a:xfrm>
          <a:prstGeom prst="rect">
            <a:avLst/>
          </a:prstGeom>
          <a:noFill/>
          <a:ln/>
        </p:spPr>
        <p:txBody>
          <a:bodyPr wrap="square" lIns="0" tIns="0" rIns="0" bIns="0" rtlCol="0" anchor="ctr"/>
          <a:lstStyle/>
          <a:p>
            <a:pPr algn="ctr" indent="0" marL="0">
              <a:buNone/>
            </a:pPr>
            <a:r>
              <a:rPr lang="en-US" sz="1200" i="1" dirty="0">
                <a:solidFill>
                  <a:srgbClr val="8BA5CC"/>
                </a:solidFill>
                <a:latin typeface="Calibri" pitchFamily="34" charset="0"/>
                <a:ea typeface="Calibri" pitchFamily="34" charset="-122"/>
                <a:cs typeface="Calibri" pitchFamily="34" charset="-120"/>
              </a:rPr>
              <a:t>Safety score updates live throughout the session — each alert deducts points from 100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lIns="0" tIns="0" rIns="0" bIns="0" rtlCol="0" anchor="ctr"/>
          <a:lstStyle/>
          <a:p>
            <a:pPr indent="0" marL="0">
              <a:buNone/>
            </a:pPr>
            <a:r>
              <a:rPr lang="en-US" sz="3600" b="1" dirty="0">
                <a:solidFill>
                  <a:srgbClr val="1A3A6E"/>
                </a:solidFill>
                <a:latin typeface="Cambria" pitchFamily="34" charset="0"/>
                <a:ea typeface="Cambria" pitchFamily="34" charset="-122"/>
                <a:cs typeface="Cambria" pitchFamily="34" charset="-120"/>
              </a:rPr>
              <a:t>Tools &amp; Technologies</a:t>
            </a:r>
            <a:endParaRPr lang="en-US" sz="3600" dirty="0"/>
          </a:p>
        </p:txBody>
      </p:sp>
      <p:sp>
        <p:nvSpPr>
          <p:cNvPr id="3" name="Shape 1"/>
          <p:cNvSpPr/>
          <p:nvPr/>
        </p:nvSpPr>
        <p:spPr>
          <a:xfrm>
            <a:off x="365760" y="96012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4" name="Shape 2"/>
          <p:cNvSpPr/>
          <p:nvPr/>
        </p:nvSpPr>
        <p:spPr>
          <a:xfrm>
            <a:off x="530352" y="1280160"/>
            <a:ext cx="457200" cy="457200"/>
          </a:xfrm>
          <a:prstGeom prst="ellipse">
            <a:avLst/>
          </a:prstGeom>
          <a:solidFill>
            <a:srgbClr val="1A3A6E"/>
          </a:solidFill>
          <a:ln w="12700">
            <a:solidFill>
              <a:srgbClr val="1A3A6E"/>
            </a:solidFill>
            <a:prstDash val="solid"/>
          </a:ln>
        </p:spPr>
      </p:sp>
      <p:sp>
        <p:nvSpPr>
          <p:cNvPr id="5" name="Text 3"/>
          <p:cNvSpPr/>
          <p:nvPr/>
        </p:nvSpPr>
        <p:spPr>
          <a:xfrm>
            <a:off x="1115568" y="105156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AI / ML</a:t>
            </a:r>
            <a:endParaRPr lang="en-US" sz="1400" dirty="0"/>
          </a:p>
        </p:txBody>
      </p:sp>
      <p:sp>
        <p:nvSpPr>
          <p:cNvPr id="6" name="Text 4"/>
          <p:cNvSpPr/>
          <p:nvPr/>
        </p:nvSpPr>
        <p:spPr>
          <a:xfrm>
            <a:off x="1115568" y="141732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Python · PyTorch · YOLOv8 (Ultralytics) · CBAM (custom)</a:t>
            </a:r>
            <a:endParaRPr lang="en-US" sz="1100" dirty="0"/>
          </a:p>
        </p:txBody>
      </p:sp>
      <p:sp>
        <p:nvSpPr>
          <p:cNvPr id="7" name="Shape 5"/>
          <p:cNvSpPr/>
          <p:nvPr/>
        </p:nvSpPr>
        <p:spPr>
          <a:xfrm>
            <a:off x="4754880" y="96012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8" name="Shape 6"/>
          <p:cNvSpPr/>
          <p:nvPr/>
        </p:nvSpPr>
        <p:spPr>
          <a:xfrm>
            <a:off x="4919472" y="1280160"/>
            <a:ext cx="457200" cy="457200"/>
          </a:xfrm>
          <a:prstGeom prst="ellipse">
            <a:avLst/>
          </a:prstGeom>
          <a:solidFill>
            <a:srgbClr val="2E75B6"/>
          </a:solidFill>
          <a:ln w="12700">
            <a:solidFill>
              <a:srgbClr val="2E75B6"/>
            </a:solidFill>
            <a:prstDash val="solid"/>
          </a:ln>
        </p:spPr>
      </p:sp>
      <p:sp>
        <p:nvSpPr>
          <p:cNvPr id="9" name="Text 7"/>
          <p:cNvSpPr/>
          <p:nvPr/>
        </p:nvSpPr>
        <p:spPr>
          <a:xfrm>
            <a:off x="5504688" y="105156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Computer Vision</a:t>
            </a:r>
            <a:endParaRPr lang="en-US" sz="1400" dirty="0"/>
          </a:p>
        </p:txBody>
      </p:sp>
      <p:sp>
        <p:nvSpPr>
          <p:cNvPr id="10" name="Text 8"/>
          <p:cNvSpPr/>
          <p:nvPr/>
        </p:nvSpPr>
        <p:spPr>
          <a:xfrm>
            <a:off x="5504688" y="141732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MediaPipe FaceMesh &amp; Hands · OpenCV · EAR / MAR geometry</a:t>
            </a:r>
            <a:endParaRPr lang="en-US" sz="1100" dirty="0"/>
          </a:p>
        </p:txBody>
      </p:sp>
      <p:sp>
        <p:nvSpPr>
          <p:cNvPr id="11" name="Shape 9"/>
          <p:cNvSpPr/>
          <p:nvPr/>
        </p:nvSpPr>
        <p:spPr>
          <a:xfrm>
            <a:off x="365760" y="219456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2" name="Shape 10"/>
          <p:cNvSpPr/>
          <p:nvPr/>
        </p:nvSpPr>
        <p:spPr>
          <a:xfrm>
            <a:off x="530352" y="2514600"/>
            <a:ext cx="457200" cy="457200"/>
          </a:xfrm>
          <a:prstGeom prst="ellipse">
            <a:avLst/>
          </a:prstGeom>
          <a:solidFill>
            <a:srgbClr val="2E8B57"/>
          </a:solidFill>
          <a:ln w="12700">
            <a:solidFill>
              <a:srgbClr val="2E8B57"/>
            </a:solidFill>
            <a:prstDash val="solid"/>
          </a:ln>
        </p:spPr>
      </p:sp>
      <p:sp>
        <p:nvSpPr>
          <p:cNvPr id="13" name="Text 11"/>
          <p:cNvSpPr/>
          <p:nvPr/>
        </p:nvSpPr>
        <p:spPr>
          <a:xfrm>
            <a:off x="1115568" y="228600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Back-end</a:t>
            </a:r>
            <a:endParaRPr lang="en-US" sz="1400" dirty="0"/>
          </a:p>
        </p:txBody>
      </p:sp>
      <p:sp>
        <p:nvSpPr>
          <p:cNvPr id="14" name="Text 12"/>
          <p:cNvSpPr/>
          <p:nvPr/>
        </p:nvSpPr>
        <p:spPr>
          <a:xfrm>
            <a:off x="1115568" y="265176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Flask · Flask-SocketIO · REST API · WebSocket</a:t>
            </a:r>
            <a:endParaRPr lang="en-US" sz="1100" dirty="0"/>
          </a:p>
        </p:txBody>
      </p:sp>
      <p:sp>
        <p:nvSpPr>
          <p:cNvPr id="15" name="Shape 13"/>
          <p:cNvSpPr/>
          <p:nvPr/>
        </p:nvSpPr>
        <p:spPr>
          <a:xfrm>
            <a:off x="4754880" y="219456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16" name="Shape 14"/>
          <p:cNvSpPr/>
          <p:nvPr/>
        </p:nvSpPr>
        <p:spPr>
          <a:xfrm>
            <a:off x="4919472" y="2514600"/>
            <a:ext cx="457200" cy="457200"/>
          </a:xfrm>
          <a:prstGeom prst="ellipse">
            <a:avLst/>
          </a:prstGeom>
          <a:solidFill>
            <a:srgbClr val="E67E22"/>
          </a:solidFill>
          <a:ln w="12700">
            <a:solidFill>
              <a:srgbClr val="E67E22"/>
            </a:solidFill>
            <a:prstDash val="solid"/>
          </a:ln>
        </p:spPr>
      </p:sp>
      <p:sp>
        <p:nvSpPr>
          <p:cNvPr id="17" name="Text 15"/>
          <p:cNvSpPr/>
          <p:nvPr/>
        </p:nvSpPr>
        <p:spPr>
          <a:xfrm>
            <a:off x="5504688" y="228600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Mobile</a:t>
            </a:r>
            <a:endParaRPr lang="en-US" sz="1400" dirty="0"/>
          </a:p>
        </p:txBody>
      </p:sp>
      <p:sp>
        <p:nvSpPr>
          <p:cNvPr id="18" name="Text 16"/>
          <p:cNvSpPr/>
          <p:nvPr/>
        </p:nvSpPr>
        <p:spPr>
          <a:xfrm>
            <a:off x="5504688" y="265176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Flutter (Dart) · Android / iOS · Camera · AudioPlayers</a:t>
            </a:r>
            <a:endParaRPr lang="en-US" sz="1100" dirty="0"/>
          </a:p>
        </p:txBody>
      </p:sp>
      <p:sp>
        <p:nvSpPr>
          <p:cNvPr id="19" name="Shape 17"/>
          <p:cNvSpPr/>
          <p:nvPr/>
        </p:nvSpPr>
        <p:spPr>
          <a:xfrm>
            <a:off x="365760" y="342900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20" name="Shape 18"/>
          <p:cNvSpPr/>
          <p:nvPr/>
        </p:nvSpPr>
        <p:spPr>
          <a:xfrm>
            <a:off x="530352" y="3749040"/>
            <a:ext cx="457200" cy="457200"/>
          </a:xfrm>
          <a:prstGeom prst="ellipse">
            <a:avLst/>
          </a:prstGeom>
          <a:solidFill>
            <a:srgbClr val="C0392B"/>
          </a:solidFill>
          <a:ln w="12700">
            <a:solidFill>
              <a:srgbClr val="C0392B"/>
            </a:solidFill>
            <a:prstDash val="solid"/>
          </a:ln>
        </p:spPr>
      </p:sp>
      <p:sp>
        <p:nvSpPr>
          <p:cNvPr id="21" name="Text 19"/>
          <p:cNvSpPr/>
          <p:nvPr/>
        </p:nvSpPr>
        <p:spPr>
          <a:xfrm>
            <a:off x="1115568" y="352044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Training</a:t>
            </a:r>
            <a:endParaRPr lang="en-US" sz="1400" dirty="0"/>
          </a:p>
        </p:txBody>
      </p:sp>
      <p:sp>
        <p:nvSpPr>
          <p:cNvPr id="22" name="Text 20"/>
          <p:cNvSpPr/>
          <p:nvPr/>
        </p:nvSpPr>
        <p:spPr>
          <a:xfrm>
            <a:off x="1115568" y="388620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Google Colab · Tesla T4 GPU · 4 training notebooks</a:t>
            </a:r>
            <a:endParaRPr lang="en-US" sz="1100" dirty="0"/>
          </a:p>
        </p:txBody>
      </p:sp>
      <p:sp>
        <p:nvSpPr>
          <p:cNvPr id="23" name="Shape 21"/>
          <p:cNvSpPr/>
          <p:nvPr/>
        </p:nvSpPr>
        <p:spPr>
          <a:xfrm>
            <a:off x="4754880" y="3429000"/>
            <a:ext cx="4160520" cy="1097280"/>
          </a:xfrm>
          <a:prstGeom prst="roundRect">
            <a:avLst>
              <a:gd name="adj" fmla="val 10000"/>
            </a:avLst>
          </a:prstGeom>
          <a:solidFill>
            <a:srgbClr val="FFFFFF"/>
          </a:solidFill>
          <a:ln w="12700">
            <a:solidFill>
              <a:srgbClr val="DDE6F0"/>
            </a:solidFill>
            <a:prstDash val="solid"/>
          </a:ln>
          <a:effectLst>
            <a:outerShdw sx="100000" sy="100000" kx="0" ky="0" algn="bl" rotWithShape="0" blurRad="101600" dist="38100" dir="2700000">
              <a:srgbClr val="000000">
                <a:alpha val="14000"/>
              </a:srgbClr>
            </a:outerShdw>
          </a:effectLst>
        </p:spPr>
      </p:sp>
      <p:sp>
        <p:nvSpPr>
          <p:cNvPr id="24" name="Shape 22"/>
          <p:cNvSpPr/>
          <p:nvPr/>
        </p:nvSpPr>
        <p:spPr>
          <a:xfrm>
            <a:off x="4919472" y="3749040"/>
            <a:ext cx="457200" cy="457200"/>
          </a:xfrm>
          <a:prstGeom prst="ellipse">
            <a:avLst/>
          </a:prstGeom>
          <a:solidFill>
            <a:srgbClr val="5D6D7E"/>
          </a:solidFill>
          <a:ln w="12700">
            <a:solidFill>
              <a:srgbClr val="5D6D7E"/>
            </a:solidFill>
            <a:prstDash val="solid"/>
          </a:ln>
        </p:spPr>
      </p:sp>
      <p:sp>
        <p:nvSpPr>
          <p:cNvPr id="25" name="Text 23"/>
          <p:cNvSpPr/>
          <p:nvPr/>
        </p:nvSpPr>
        <p:spPr>
          <a:xfrm>
            <a:off x="5504688" y="3520440"/>
            <a:ext cx="3246120" cy="347472"/>
          </a:xfrm>
          <a:prstGeom prst="rect">
            <a:avLst/>
          </a:prstGeom>
          <a:noFill/>
          <a:ln/>
        </p:spPr>
        <p:txBody>
          <a:bodyPr wrap="square" lIns="0" tIns="0" rIns="0" bIns="0" rtlCol="0" anchor="ctr"/>
          <a:lstStyle/>
          <a:p>
            <a:pPr indent="0" marL="0">
              <a:buNone/>
            </a:pPr>
            <a:r>
              <a:rPr lang="en-US" sz="1400" b="1" dirty="0">
                <a:solidFill>
                  <a:srgbClr val="1A3A6E"/>
                </a:solidFill>
                <a:latin typeface="Calibri" pitchFamily="34" charset="0"/>
                <a:ea typeface="Calibri" pitchFamily="34" charset="-122"/>
                <a:cs typeface="Calibri" pitchFamily="34" charset="-120"/>
              </a:rPr>
              <a:t>Data Sources</a:t>
            </a:r>
            <a:endParaRPr lang="en-US" sz="1400" dirty="0"/>
          </a:p>
        </p:txBody>
      </p:sp>
      <p:sp>
        <p:nvSpPr>
          <p:cNvPr id="26" name="Text 24"/>
          <p:cNvSpPr/>
          <p:nvPr/>
        </p:nvSpPr>
        <p:spPr>
          <a:xfrm>
            <a:off x="5504688" y="3886200"/>
            <a:ext cx="3246120" cy="566928"/>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Kaggle (3 datasets) · Roboflow (smoking, merged)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6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75B6"/>
          </a:solidFill>
          <a:ln w="12700">
            <a:solidFill>
              <a:srgbClr val="2E75B6"/>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 &amp; Future Work</a:t>
            </a:r>
            <a:endParaRPr lang="en-US" sz="3600" dirty="0"/>
          </a:p>
        </p:txBody>
      </p:sp>
      <p:sp>
        <p:nvSpPr>
          <p:cNvPr id="4" name="Text 2"/>
          <p:cNvSpPr/>
          <p:nvPr/>
        </p:nvSpPr>
        <p:spPr>
          <a:xfrm>
            <a:off x="457200" y="960120"/>
            <a:ext cx="411480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What We Achieved</a:t>
            </a:r>
            <a:endParaRPr lang="en-US" sz="1600" dirty="0"/>
          </a:p>
        </p:txBody>
      </p:sp>
      <p:sp>
        <p:nvSpPr>
          <p:cNvPr id="5" name="Text 3"/>
          <p:cNvSpPr/>
          <p:nvPr/>
        </p:nvSpPr>
        <p:spPr>
          <a:xfrm>
            <a:off x="457200" y="1389888"/>
            <a:ext cx="4023360" cy="2560320"/>
          </a:xfrm>
          <a:prstGeom prst="rect">
            <a:avLst/>
          </a:prstGeom>
          <a:noFill/>
          <a:ln/>
        </p:spPr>
        <p:txBody>
          <a:bodyPr wrap="square" lIns="0" tIns="0" rIns="0" bIns="0" rtlCol="0" anchor="ctr"/>
          <a:lstStyle/>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4 detectors unified in one real-time system</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CBAM contribution: mAP improved 62.5% → 64.4%</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Full stack: models + Flask API + Flutter app</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100% accuracy on drowsiness classification</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Live safety score with audio + haptic alerts</a:t>
            </a:r>
            <a:endParaRPr lang="en-US" sz="1250" dirty="0"/>
          </a:p>
        </p:txBody>
      </p:sp>
      <p:sp>
        <p:nvSpPr>
          <p:cNvPr id="6" name="Text 4"/>
          <p:cNvSpPr/>
          <p:nvPr/>
        </p:nvSpPr>
        <p:spPr>
          <a:xfrm>
            <a:off x="4846320" y="960120"/>
            <a:ext cx="384048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Future Work</a:t>
            </a:r>
            <a:endParaRPr lang="en-US" sz="1600" dirty="0"/>
          </a:p>
        </p:txBody>
      </p:sp>
      <p:sp>
        <p:nvSpPr>
          <p:cNvPr id="7" name="Text 5"/>
          <p:cNvSpPr/>
          <p:nvPr/>
        </p:nvSpPr>
        <p:spPr>
          <a:xfrm>
            <a:off x="4846320" y="1389888"/>
            <a:ext cx="3840480" cy="2560320"/>
          </a:xfrm>
          <a:prstGeom prst="rect">
            <a:avLst/>
          </a:prstGeom>
          <a:noFill/>
          <a:ln/>
        </p:spPr>
        <p:txBody>
          <a:bodyPr wrap="square" lIns="0" tIns="0" rIns="0" bIns="0" rtlCol="0" anchor="ctr"/>
          <a:lstStyle/>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On-device inference (TensorFlow Lite)</a:t>
            </a:r>
            <a:endParaRPr lang="en-US" sz="1250" dirty="0"/>
          </a:p>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More vape training data collection</a:t>
            </a:r>
            <a:endParaRPr lang="en-US" sz="1250" dirty="0"/>
          </a:p>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Night / low-light robustness</a:t>
            </a:r>
            <a:endParaRPr lang="en-US" sz="1250" dirty="0"/>
          </a:p>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Driver history &amp; fleet reporting</a:t>
            </a:r>
            <a:endParaRPr lang="en-US" sz="1250" dirty="0"/>
          </a:p>
          <a:p>
            <a:pPr marL="342900" indent="-342900">
              <a:buSzPct val="100000"/>
              <a:buChar char="•"/>
            </a:pPr>
            <a:r>
              <a:rPr lang="en-US" sz="1250" dirty="0">
                <a:solidFill>
                  <a:srgbClr val="CADCFC"/>
                </a:solidFill>
                <a:latin typeface="Calibri" pitchFamily="34" charset="0"/>
                <a:ea typeface="Calibri" pitchFamily="34" charset="-122"/>
                <a:cs typeface="Calibri" pitchFamily="34" charset="-120"/>
              </a:rPr>
              <a:t>Additional behaviors (eating, distraction)</a:t>
            </a:r>
            <a:endParaRPr lang="en-US" sz="1250" dirty="0"/>
          </a:p>
        </p:txBody>
      </p:sp>
      <p:sp>
        <p:nvSpPr>
          <p:cNvPr id="8" name="Shape 6"/>
          <p:cNvSpPr/>
          <p:nvPr/>
        </p:nvSpPr>
        <p:spPr>
          <a:xfrm>
            <a:off x="4572000" y="914400"/>
            <a:ext cx="0" cy="3291840"/>
          </a:xfrm>
          <a:prstGeom prst="line">
            <a:avLst/>
          </a:prstGeom>
          <a:noFill/>
          <a:ln w="12700">
            <a:solidFill>
              <a:srgbClr val="2D4A7A"/>
            </a:solidFill>
            <a:prstDash val="dash"/>
          </a:ln>
        </p:spPr>
      </p:sp>
      <p:sp>
        <p:nvSpPr>
          <p:cNvPr id="9" name="Shape 7"/>
          <p:cNvSpPr/>
          <p:nvPr/>
        </p:nvSpPr>
        <p:spPr>
          <a:xfrm>
            <a:off x="457200" y="4224528"/>
            <a:ext cx="8229600" cy="640080"/>
          </a:xfrm>
          <a:prstGeom prst="roundRect">
            <a:avLst>
              <a:gd name="adj" fmla="val 14286"/>
            </a:avLst>
          </a:prstGeom>
          <a:solidFill>
            <a:srgbClr val="2E75B6">
              <a:alpha val="40000"/>
            </a:srgbClr>
          </a:solidFill>
          <a:ln w="12700">
            <a:solidFill>
              <a:srgbClr val="2E75B6"/>
            </a:solidFill>
            <a:prstDash val="solid"/>
          </a:ln>
        </p:spPr>
      </p:sp>
      <p:sp>
        <p:nvSpPr>
          <p:cNvPr id="10" name="Text 8"/>
          <p:cNvSpPr/>
          <p:nvPr/>
        </p:nvSpPr>
        <p:spPr>
          <a:xfrm>
            <a:off x="457200" y="4224528"/>
            <a:ext cx="8229600" cy="6400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github.com/yousef2468-1/driver-monitoring-system  ·  Cairo University, FCAI, AI Department, 2025–2026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Monitoring System - Graduation Project</dc:title>
  <dc:subject>PptxGenJS Presentation</dc:subject>
  <dc:creator>Yousef Abdelaziz Mohamed</dc:creator>
  <cp:lastModifiedBy>Yousef Abdelaziz Mohamed</cp:lastModifiedBy>
  <cp:revision>1</cp:revision>
  <dcterms:created xsi:type="dcterms:W3CDTF">2026-07-01T17:57:25Z</dcterms:created>
  <dcterms:modified xsi:type="dcterms:W3CDTF">2026-07-01T17:57:25Z</dcterms:modified>
</cp:coreProperties>
</file>